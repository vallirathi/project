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318" r:id="rId6"/>
    <p:sldId id="319" r:id="rId7"/>
    <p:sldId id="320" r:id="rId8"/>
    <p:sldId id="260" r:id="rId9"/>
    <p:sldId id="261" r:id="rId10"/>
    <p:sldId id="291" r:id="rId11"/>
    <p:sldId id="262" r:id="rId12"/>
    <p:sldId id="297" r:id="rId13"/>
    <p:sldId id="298" r:id="rId14"/>
    <p:sldId id="263" r:id="rId15"/>
    <p:sldId id="292" r:id="rId16"/>
    <p:sldId id="293" r:id="rId17"/>
    <p:sldId id="294" r:id="rId18"/>
    <p:sldId id="301" r:id="rId19"/>
    <p:sldId id="299" r:id="rId20"/>
    <p:sldId id="300" r:id="rId21"/>
    <p:sldId id="302" r:id="rId22"/>
    <p:sldId id="303" r:id="rId23"/>
    <p:sldId id="307" r:id="rId24"/>
    <p:sldId id="317" r:id="rId25"/>
    <p:sldId id="305" r:id="rId26"/>
    <p:sldId id="306" r:id="rId27"/>
    <p:sldId id="296" r:id="rId28"/>
    <p:sldId id="308" r:id="rId29"/>
    <p:sldId id="310" r:id="rId30"/>
    <p:sldId id="311" r:id="rId31"/>
    <p:sldId id="312" r:id="rId32"/>
    <p:sldId id="321" r:id="rId33"/>
    <p:sldId id="313" r:id="rId34"/>
    <p:sldId id="309"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284" r:id="rId54"/>
    <p:sldId id="285" r:id="rId55"/>
    <p:sldId id="286" r:id="rId56"/>
    <p:sldId id="287" r:id="rId57"/>
    <p:sldId id="288" r:id="rId58"/>
    <p:sldId id="289" r:id="rId59"/>
    <p:sldId id="290" r:id="rId60"/>
    <p:sldId id="315" r:id="rId61"/>
    <p:sldId id="314" r:id="rId62"/>
    <p:sldId id="322"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285C7C7-B3DD-46A0-95CB-0D6EC21809CF}"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9022EF-A490-4317-93E3-3E68BB779FB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5C7C7-B3DD-46A0-95CB-0D6EC21809CF}"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9022EF-A490-4317-93E3-3E68BB779FB9}" type="slidenum">
              <a:rPr lang="en-IN" smtClean="0"/>
              <a:t>‹#›</a:t>
            </a:fld>
            <a:endParaRPr lang="en-IN"/>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85C7C7-B3DD-46A0-95CB-0D6EC21809CF}"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9022EF-A490-4317-93E3-3E68BB779F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4285C7C7-B3DD-46A0-95CB-0D6EC21809CF}" type="datetimeFigureOut">
              <a:rPr lang="en-IN" smtClean="0"/>
              <a:t>27-09-2023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9022EF-A490-4317-93E3-3E68BB779FB9}" type="slidenum">
              <a:rPr lang="en-IN" smtClean="0"/>
              <a:t>‹#›</a:t>
            </a:fld>
            <a:endParaRPr lang="en-IN"/>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85C7C7-B3DD-46A0-95CB-0D6EC21809CF}" type="datetimeFigureOut">
              <a:rPr lang="en-IN" smtClean="0"/>
              <a:t>27-09-2023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9022EF-A490-4317-93E3-3E68BB779FB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85C7C7-B3DD-46A0-95CB-0D6EC21809CF}" type="datetimeFigureOut">
              <a:rPr lang="en-IN" smtClean="0"/>
              <a:t>27-09-2023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9022EF-A490-4317-93E3-3E68BB779FB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4285C7C7-B3DD-46A0-95CB-0D6EC21809CF}" type="datetimeFigureOut">
              <a:rPr lang="en-IN" smtClean="0"/>
              <a:t>27-09-2023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9022EF-A490-4317-93E3-3E68BB779FB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4285C7C7-B3DD-46A0-95CB-0D6EC21809CF}" type="datetimeFigureOut">
              <a:rPr lang="en-IN" smtClean="0"/>
              <a:t>27-09-2023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9022EF-A490-4317-93E3-3E68BB779FB9}" type="slidenum">
              <a:rPr lang="en-IN" smtClean="0"/>
              <a:t>‹#›</a:t>
            </a:fld>
            <a:endParaRPr lang="en-IN"/>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85C7C7-B3DD-46A0-95CB-0D6EC21809CF}" type="datetimeFigureOut">
              <a:rPr lang="en-IN" smtClean="0"/>
              <a:t>27-09-2023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9022EF-A490-4317-93E3-3E68BB779FB9}" type="slidenum">
              <a:rPr lang="en-IN" smtClean="0"/>
              <a:t>‹#›</a:t>
            </a:fld>
            <a:endParaRPr lang="en-IN"/>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5C7C7-B3DD-46A0-95CB-0D6EC21809CF}"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9022EF-A490-4317-93E3-3E68BB779FB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4285C7C7-B3DD-46A0-95CB-0D6EC21809CF}"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9022EF-A490-4317-93E3-3E68BB779FB9}" type="slidenum">
              <a:rPr lang="en-IN" smtClean="0"/>
              <a:t>‹#›</a:t>
            </a:fld>
            <a:endParaRPr lang="en-IN"/>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4285C7C7-B3DD-46A0-95CB-0D6EC21809CF}" type="datetimeFigureOut">
              <a:rPr lang="en-IN" smtClean="0"/>
              <a:t>27-09-2023</a:t>
            </a:fld>
            <a:endParaRPr lang="en-IN"/>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IN"/>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709022EF-A490-4317-93E3-3E68BB779FB9}" type="slidenum">
              <a:rPr lang="en-IN" smtClean="0"/>
              <a:t>‹#›</a:t>
            </a:fld>
            <a:endParaRPr lang="en-IN"/>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Source_code" TargetMode="External"/><Relationship Id="rId7" Type="http://schemas.openxmlformats.org/officeDocument/2006/relationships/image" Target="../media/image2.png"/><Relationship Id="rId2" Type="http://schemas.openxmlformats.org/officeDocument/2006/relationships/hyperlink" Target="https://en.wikipedia.org/wiki/Computer_program" TargetMode="External"/><Relationship Id="rId1" Type="http://schemas.openxmlformats.org/officeDocument/2006/relationships/slideLayout" Target="../slideLayouts/slideLayout2.xml"/><Relationship Id="rId6" Type="http://schemas.openxmlformats.org/officeDocument/2006/relationships/hyperlink" Target="https://en.wikipedia.org/wiki/Executable" TargetMode="External"/><Relationship Id="rId5" Type="http://schemas.openxmlformats.org/officeDocument/2006/relationships/hyperlink" Target="https://en.wikipedia.org/wiki/Object_code" TargetMode="External"/><Relationship Id="rId4" Type="http://schemas.openxmlformats.org/officeDocument/2006/relationships/hyperlink" Target="https://en.wikipedia.org/wiki/Programming_language"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compiler-design-follow-set-in-syntax-analysis/" TargetMode="External"/><Relationship Id="rId2" Type="http://schemas.openxmlformats.org/officeDocument/2006/relationships/hyperlink" Target="https://www.geeksforgeeks.org/compiler-design-first-in-syntax-analysi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three-address-code-compiler/"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eeksforgeeks.org/compiler-design-code-optimization/"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4745"/>
            <a:ext cx="7772400" cy="1872208"/>
          </a:xfrm>
        </p:spPr>
        <p:txBody>
          <a:bodyPr>
            <a:normAutofit fontScale="90000"/>
          </a:bodyPr>
          <a:lstStyle/>
          <a:p>
            <a:r>
              <a:rPr lang="en-US" b="1" dirty="0" smtClean="0">
                <a:solidFill>
                  <a:schemeClr val="tx1"/>
                </a:solidFill>
                <a:latin typeface="Times New Roman" pitchFamily="18" charset="0"/>
                <a:cs typeface="Times New Roman" pitchFamily="18" charset="0"/>
              </a:rPr>
              <a:t>One Day Seminar on</a:t>
            </a:r>
            <a:br>
              <a:rPr lang="en-US" b="1" dirty="0" smtClean="0">
                <a:solidFill>
                  <a:schemeClr val="tx1"/>
                </a:solidFill>
                <a:latin typeface="Times New Roman" pitchFamily="18" charset="0"/>
                <a:cs typeface="Times New Roman" pitchFamily="18" charset="0"/>
              </a:rPr>
            </a:br>
            <a:r>
              <a:rPr lang="en-US" b="1" dirty="0" smtClean="0">
                <a:solidFill>
                  <a:schemeClr val="tx1"/>
                </a:solidFill>
                <a:latin typeface="Times New Roman" pitchFamily="18" charset="0"/>
                <a:cs typeface="Times New Roman" pitchFamily="18" charset="0"/>
              </a:rPr>
              <a:t> </a:t>
            </a:r>
            <a:br>
              <a:rPr lang="en-US" b="1" dirty="0" smtClean="0">
                <a:solidFill>
                  <a:schemeClr val="tx1"/>
                </a:solidFill>
                <a:latin typeface="Times New Roman" pitchFamily="18" charset="0"/>
                <a:cs typeface="Times New Roman" pitchFamily="18" charset="0"/>
              </a:rPr>
            </a:br>
            <a:r>
              <a:rPr lang="en-US" b="1" dirty="0" smtClean="0">
                <a:solidFill>
                  <a:schemeClr val="tx1"/>
                </a:solidFill>
                <a:latin typeface="Times New Roman" pitchFamily="18" charset="0"/>
                <a:cs typeface="Times New Roman" pitchFamily="18" charset="0"/>
              </a:rPr>
              <a:t>Compiler Design</a:t>
            </a:r>
            <a:endParaRPr lang="en-IN" b="1" dirty="0">
              <a:solidFill>
                <a:schemeClr val="tx1"/>
              </a:solidFill>
              <a:latin typeface="Times New Roman" pitchFamily="18" charset="0"/>
              <a:cs typeface="Times New Roman" pitchFamily="18" charset="0"/>
            </a:endParaRPr>
          </a:p>
        </p:txBody>
      </p:sp>
      <p:sp>
        <p:nvSpPr>
          <p:cNvPr id="3" name="Subtitle 2"/>
          <p:cNvSpPr>
            <a:spLocks noGrp="1"/>
          </p:cNvSpPr>
          <p:nvPr>
            <p:ph type="subTitle" idx="1"/>
          </p:nvPr>
        </p:nvSpPr>
        <p:spPr>
          <a:xfrm>
            <a:off x="611560" y="3140968"/>
            <a:ext cx="7088832" cy="2160240"/>
          </a:xfrm>
        </p:spPr>
        <p:txBody>
          <a:bodyPr>
            <a:normAutofit/>
          </a:bodyPr>
          <a:lstStyle/>
          <a:p>
            <a:pPr algn="just"/>
            <a:r>
              <a:rPr lang="en-US" b="1" dirty="0" smtClean="0">
                <a:solidFill>
                  <a:srgbClr val="FF0000"/>
                </a:solidFill>
                <a:latin typeface="Times New Roman" pitchFamily="18" charset="0"/>
                <a:cs typeface="Times New Roman" pitchFamily="18" charset="0"/>
              </a:rPr>
              <a:t>Presented by</a:t>
            </a:r>
          </a:p>
          <a:p>
            <a:pPr algn="just"/>
            <a:r>
              <a:rPr lang="en-US" b="1" dirty="0" smtClean="0">
                <a:solidFill>
                  <a:srgbClr val="FF0000"/>
                </a:solidFill>
                <a:latin typeface="Times New Roman" pitchFamily="18" charset="0"/>
                <a:cs typeface="Times New Roman" pitchFamily="18" charset="0"/>
              </a:rPr>
              <a:t>	</a:t>
            </a:r>
            <a:r>
              <a:rPr lang="en-US" b="1" dirty="0" err="1" smtClean="0">
                <a:solidFill>
                  <a:srgbClr val="FF0000"/>
                </a:solidFill>
                <a:latin typeface="Times New Roman" pitchFamily="18" charset="0"/>
                <a:cs typeface="Times New Roman" pitchFamily="18" charset="0"/>
              </a:rPr>
              <a:t>Dr.I.Vallirathi</a:t>
            </a:r>
            <a:r>
              <a:rPr lang="en-US" b="1" dirty="0" smtClean="0">
                <a:solidFill>
                  <a:srgbClr val="FF0000"/>
                </a:solidFill>
                <a:latin typeface="Times New Roman" pitchFamily="18" charset="0"/>
                <a:cs typeface="Times New Roman" pitchFamily="18" charset="0"/>
              </a:rPr>
              <a:t>,</a:t>
            </a:r>
          </a:p>
          <a:p>
            <a:pPr algn="just"/>
            <a:r>
              <a:rPr lang="en-US" b="1" dirty="0" smtClean="0">
                <a:solidFill>
                  <a:srgbClr val="FF0000"/>
                </a:solidFill>
                <a:latin typeface="Times New Roman" pitchFamily="18" charset="0"/>
                <a:cs typeface="Times New Roman" pitchFamily="18" charset="0"/>
              </a:rPr>
              <a:t>	Assistant Professor,</a:t>
            </a:r>
          </a:p>
          <a:p>
            <a:pPr algn="just"/>
            <a:r>
              <a:rPr lang="en-US" b="1" dirty="0" smtClean="0">
                <a:solidFill>
                  <a:srgbClr val="FF0000"/>
                </a:solidFill>
                <a:latin typeface="Times New Roman" pitchFamily="18" charset="0"/>
                <a:cs typeface="Times New Roman" pitchFamily="18" charset="0"/>
              </a:rPr>
              <a:t>	PET Engineering College, </a:t>
            </a:r>
          </a:p>
          <a:p>
            <a:pPr algn="just"/>
            <a:r>
              <a:rPr lang="en-US" b="1" dirty="0" smtClean="0">
                <a:solidFill>
                  <a:srgbClr val="FF0000"/>
                </a:solidFill>
                <a:latin typeface="Times New Roman" pitchFamily="18" charset="0"/>
                <a:cs typeface="Times New Roman" pitchFamily="18" charset="0"/>
              </a:rPr>
              <a:t>	</a:t>
            </a:r>
            <a:r>
              <a:rPr lang="en-US" b="1" dirty="0" err="1" smtClean="0">
                <a:solidFill>
                  <a:srgbClr val="FF0000"/>
                </a:solidFill>
                <a:latin typeface="Times New Roman" pitchFamily="18" charset="0"/>
                <a:cs typeface="Times New Roman" pitchFamily="18" charset="0"/>
              </a:rPr>
              <a:t>Vallioor</a:t>
            </a:r>
            <a:r>
              <a:rPr lang="en-US" b="1" dirty="0" smtClean="0">
                <a:solidFill>
                  <a:srgbClr val="FF0000"/>
                </a:solidFill>
                <a:latin typeface="Times New Roman" pitchFamily="18" charset="0"/>
                <a:cs typeface="Times New Roman" pitchFamily="18" charset="0"/>
              </a:rPr>
              <a:t>.</a:t>
            </a:r>
          </a:p>
          <a:p>
            <a:endParaRPr lang="en-IN" dirty="0"/>
          </a:p>
        </p:txBody>
      </p:sp>
    </p:spTree>
    <p:extLst>
      <p:ext uri="{BB962C8B-B14F-4D97-AF65-F5344CB8AC3E}">
        <p14:creationId xmlns:p14="http://schemas.microsoft.com/office/powerpoint/2010/main" val="33018195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8760"/>
            <a:ext cx="8229600" cy="4857403"/>
          </a:xfrm>
        </p:spPr>
        <p:txBody>
          <a:bodyPr>
            <a:normAutofit fontScale="25000" lnSpcReduction="20000"/>
          </a:bodyPr>
          <a:lstStyle/>
          <a:p>
            <a:pPr marL="0" indent="0" algn="just">
              <a:buNone/>
            </a:pPr>
            <a:r>
              <a:rPr lang="en-IN" sz="4800" b="1" dirty="0" smtClean="0">
                <a:latin typeface="Times New Roman" pitchFamily="18" charset="0"/>
                <a:cs typeface="Times New Roman" pitchFamily="18" charset="0"/>
              </a:rPr>
              <a:t>1. UNIT I INTRODUCTION TO COMPILERS &amp; LEXICAL ANALYSIS </a:t>
            </a:r>
            <a:endParaRPr lang="en-IN" sz="4800" dirty="0" smtClean="0">
              <a:latin typeface="Times New Roman" pitchFamily="18" charset="0"/>
              <a:cs typeface="Times New Roman" pitchFamily="18" charset="0"/>
            </a:endParaRPr>
          </a:p>
          <a:p>
            <a:pPr marL="0" indent="0" algn="just">
              <a:buNone/>
            </a:pPr>
            <a:r>
              <a:rPr lang="en-IN" sz="4800" dirty="0" smtClean="0">
                <a:latin typeface="Times New Roman" pitchFamily="18" charset="0"/>
                <a:cs typeface="Times New Roman" pitchFamily="18" charset="0"/>
              </a:rPr>
              <a:t>Introduction- Translators- Compilation and Interpretation- Language processors -The Phases of</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Compiler – Lexical Analysis – Role of Lexical </a:t>
            </a:r>
            <a:r>
              <a:rPr lang="en-IN" sz="4800" dirty="0" err="1" smtClean="0">
                <a:latin typeface="Times New Roman" pitchFamily="18" charset="0"/>
                <a:cs typeface="Times New Roman" pitchFamily="18" charset="0"/>
              </a:rPr>
              <a:t>Analyzer</a:t>
            </a:r>
            <a:r>
              <a:rPr lang="en-IN" sz="4800" dirty="0" smtClean="0">
                <a:latin typeface="Times New Roman" pitchFamily="18" charset="0"/>
                <a:cs typeface="Times New Roman" pitchFamily="18" charset="0"/>
              </a:rPr>
              <a:t> – Input Buffering – Specification of Tokens– Recognition of Tokens – Finite Automata – Regular Expressions to Automata NFA, DFA –Minimizing DFA – Language for Specifying Lexical </a:t>
            </a:r>
            <a:r>
              <a:rPr lang="en-IN" sz="4800" dirty="0" err="1" smtClean="0">
                <a:latin typeface="Times New Roman" pitchFamily="18" charset="0"/>
                <a:cs typeface="Times New Roman" pitchFamily="18" charset="0"/>
              </a:rPr>
              <a:t>Analyzers</a:t>
            </a:r>
            <a:r>
              <a:rPr lang="en-IN" sz="4800" dirty="0" smtClean="0">
                <a:latin typeface="Times New Roman" pitchFamily="18" charset="0"/>
                <a:cs typeface="Times New Roman" pitchFamily="18" charset="0"/>
              </a:rPr>
              <a:t> – </a:t>
            </a:r>
            <a:r>
              <a:rPr lang="en-IN" sz="4800" dirty="0" err="1" smtClean="0">
                <a:latin typeface="Times New Roman" pitchFamily="18" charset="0"/>
                <a:cs typeface="Times New Roman" pitchFamily="18" charset="0"/>
              </a:rPr>
              <a:t>Lex</a:t>
            </a:r>
            <a:r>
              <a:rPr lang="en-IN" sz="4800" dirty="0" smtClean="0">
                <a:latin typeface="Times New Roman" pitchFamily="18" charset="0"/>
                <a:cs typeface="Times New Roman" pitchFamily="18" charset="0"/>
              </a:rPr>
              <a:t> tool.</a:t>
            </a:r>
          </a:p>
          <a:p>
            <a:pPr algn="just"/>
            <a:endParaRPr lang="en-IN" sz="4800" dirty="0" smtClean="0">
              <a:latin typeface="Times New Roman" pitchFamily="18" charset="0"/>
              <a:cs typeface="Times New Roman" pitchFamily="18" charset="0"/>
            </a:endParaRPr>
          </a:p>
          <a:p>
            <a:pPr marL="0" indent="0" algn="just">
              <a:buNone/>
            </a:pPr>
            <a:r>
              <a:rPr lang="en-IN" sz="4800" b="1" dirty="0" smtClean="0">
                <a:latin typeface="Times New Roman" pitchFamily="18" charset="0"/>
                <a:cs typeface="Times New Roman" pitchFamily="18" charset="0"/>
              </a:rPr>
              <a:t>2. UNIT II SYNTAX ANALYSIS</a:t>
            </a:r>
            <a:endParaRPr lang="en-IN" sz="4800" dirty="0" smtClean="0">
              <a:latin typeface="Times New Roman" pitchFamily="18" charset="0"/>
              <a:cs typeface="Times New Roman" pitchFamily="18" charset="0"/>
            </a:endParaRPr>
          </a:p>
          <a:p>
            <a:pPr marL="0" indent="0" algn="just">
              <a:buNone/>
            </a:pPr>
            <a:r>
              <a:rPr lang="en-IN" sz="4800" dirty="0" smtClean="0">
                <a:latin typeface="Times New Roman" pitchFamily="18" charset="0"/>
                <a:cs typeface="Times New Roman" pitchFamily="18" charset="0"/>
              </a:rPr>
              <a:t>Role of Parser – Grammars – Context-free grammars – Writing a grammar Top Down Parsing –</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General Strategies – Recursive Descent Parser Predictive Parser-LL(1) – Parser-Shift Reduce</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Parser-LR Parser- LR (0)Item Construction of SLR Parsing Table – Introduction to LALR Parser –</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Error Handling and Recovery in Syntax </a:t>
            </a:r>
            <a:r>
              <a:rPr lang="en-IN" sz="4800" dirty="0" err="1" smtClean="0">
                <a:latin typeface="Times New Roman" pitchFamily="18" charset="0"/>
                <a:cs typeface="Times New Roman" pitchFamily="18" charset="0"/>
              </a:rPr>
              <a:t>Analyzer</a:t>
            </a:r>
            <a:r>
              <a:rPr lang="en-IN" sz="4800" dirty="0" smtClean="0">
                <a:latin typeface="Times New Roman" pitchFamily="18" charset="0"/>
                <a:cs typeface="Times New Roman" pitchFamily="18" charset="0"/>
              </a:rPr>
              <a:t>-YACC tool – Design of a syntax </a:t>
            </a:r>
            <a:r>
              <a:rPr lang="en-IN" sz="4800" dirty="0" err="1" smtClean="0">
                <a:latin typeface="Times New Roman" pitchFamily="18" charset="0"/>
                <a:cs typeface="Times New Roman" pitchFamily="18" charset="0"/>
              </a:rPr>
              <a:t>Analyzer</a:t>
            </a:r>
            <a:r>
              <a:rPr lang="en-IN" sz="4800" dirty="0" smtClean="0">
                <a:latin typeface="Times New Roman" pitchFamily="18" charset="0"/>
                <a:cs typeface="Times New Roman" pitchFamily="18" charset="0"/>
              </a:rPr>
              <a:t> for a</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Sample Language</a:t>
            </a:r>
          </a:p>
          <a:p>
            <a:pPr algn="just"/>
            <a:endParaRPr lang="en-IN" sz="4800" dirty="0" smtClean="0">
              <a:latin typeface="Times New Roman" pitchFamily="18" charset="0"/>
              <a:cs typeface="Times New Roman" pitchFamily="18" charset="0"/>
            </a:endParaRPr>
          </a:p>
          <a:p>
            <a:pPr marL="0" indent="0" algn="just">
              <a:buNone/>
            </a:pPr>
            <a:r>
              <a:rPr lang="en-IN" sz="4800" b="1" dirty="0" smtClean="0">
                <a:latin typeface="Times New Roman" pitchFamily="18" charset="0"/>
                <a:cs typeface="Times New Roman" pitchFamily="18" charset="0"/>
              </a:rPr>
              <a:t>3. UNIT III SYNTAX DIRECTED TRANSLATION &amp; INTERMEDIATE CODE GENERATION </a:t>
            </a:r>
            <a:endParaRPr lang="en-IN" sz="4800" dirty="0" smtClean="0">
              <a:latin typeface="Times New Roman" pitchFamily="18" charset="0"/>
              <a:cs typeface="Times New Roman" pitchFamily="18" charset="0"/>
            </a:endParaRPr>
          </a:p>
          <a:p>
            <a:pPr marL="0" indent="0" algn="just">
              <a:buNone/>
            </a:pPr>
            <a:r>
              <a:rPr lang="en-IN" sz="4800" dirty="0" smtClean="0">
                <a:latin typeface="Times New Roman" pitchFamily="18" charset="0"/>
                <a:cs typeface="Times New Roman" pitchFamily="18" charset="0"/>
              </a:rPr>
              <a:t>Syntax directed Definitions-Construction of Syntax Tree-Bottom-up Evaluation of S-Attribute</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Definitions- Design of predictive translator – Type Systems-Specification of a simple type Checker Equivalence of Type Expressions-Type Conversions. Intermediate Languages: Syntax Tree, Three Address Code, Types and Declarations, Translation of Expressions, Type Checking, Back patching.</a:t>
            </a:r>
          </a:p>
          <a:p>
            <a:pPr algn="just"/>
            <a:endParaRPr lang="en-IN" sz="4800" dirty="0" smtClean="0">
              <a:latin typeface="Times New Roman" pitchFamily="18" charset="0"/>
              <a:cs typeface="Times New Roman" pitchFamily="18" charset="0"/>
            </a:endParaRPr>
          </a:p>
          <a:p>
            <a:pPr marL="0" indent="0" algn="just">
              <a:buNone/>
            </a:pPr>
            <a:r>
              <a:rPr lang="en-IN" sz="4800" b="1" dirty="0" smtClean="0">
                <a:latin typeface="Times New Roman" pitchFamily="18" charset="0"/>
                <a:cs typeface="Times New Roman" pitchFamily="18" charset="0"/>
              </a:rPr>
              <a:t>4. UNIT IV RUN-TIME ENVIRONMENT AND CODE GENERATION </a:t>
            </a:r>
            <a:endParaRPr lang="en-IN" sz="4800" dirty="0" smtClean="0">
              <a:latin typeface="Times New Roman" pitchFamily="18" charset="0"/>
              <a:cs typeface="Times New Roman" pitchFamily="18" charset="0"/>
            </a:endParaRPr>
          </a:p>
          <a:p>
            <a:pPr marL="0" indent="0" algn="just">
              <a:buNone/>
            </a:pPr>
            <a:r>
              <a:rPr lang="en-IN" sz="4800" dirty="0" smtClean="0">
                <a:latin typeface="Times New Roman" pitchFamily="18" charset="0"/>
                <a:cs typeface="Times New Roman" pitchFamily="18" charset="0"/>
              </a:rPr>
              <a:t>Runtime Environments – source language issues – Storage organization – Storage Allocation</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Strategies: Static, Stack and Heap allocation – Parameter Passing-Symbol Tables – Dynamic</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Storage Allocation – Issues in the Design of a code generator – Basic Blocks and Flow graphs –</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Design of a simple Code Generator – Optimal Code Generation for Expressions– Dynamic</a:t>
            </a:r>
            <a:br>
              <a:rPr lang="en-IN" sz="4800" dirty="0" smtClean="0">
                <a:latin typeface="Times New Roman" pitchFamily="18" charset="0"/>
                <a:cs typeface="Times New Roman" pitchFamily="18" charset="0"/>
              </a:rPr>
            </a:br>
            <a:r>
              <a:rPr lang="en-IN" sz="4800" dirty="0" smtClean="0">
                <a:latin typeface="Times New Roman" pitchFamily="18" charset="0"/>
                <a:cs typeface="Times New Roman" pitchFamily="18" charset="0"/>
              </a:rPr>
              <a:t>Programming Code Generation.</a:t>
            </a:r>
          </a:p>
          <a:p>
            <a:pPr algn="just"/>
            <a:endParaRPr lang="en-IN" sz="4800" dirty="0" smtClean="0">
              <a:latin typeface="Times New Roman" pitchFamily="18" charset="0"/>
              <a:cs typeface="Times New Roman" pitchFamily="18" charset="0"/>
            </a:endParaRPr>
          </a:p>
          <a:p>
            <a:pPr marL="0" indent="0" algn="just">
              <a:buNone/>
            </a:pPr>
            <a:r>
              <a:rPr lang="en-IN" sz="4800" b="1" dirty="0" smtClean="0">
                <a:latin typeface="Times New Roman" pitchFamily="18" charset="0"/>
                <a:cs typeface="Times New Roman" pitchFamily="18" charset="0"/>
              </a:rPr>
              <a:t>5. UNIT V CODE OPTIMIZATION </a:t>
            </a:r>
            <a:endParaRPr lang="en-IN" sz="4800" dirty="0" smtClean="0">
              <a:latin typeface="Times New Roman" pitchFamily="18" charset="0"/>
              <a:cs typeface="Times New Roman" pitchFamily="18" charset="0"/>
            </a:endParaRPr>
          </a:p>
          <a:p>
            <a:pPr marL="0" indent="0" algn="just">
              <a:buNone/>
            </a:pPr>
            <a:r>
              <a:rPr lang="en-IN" sz="4800" dirty="0" smtClean="0">
                <a:latin typeface="Times New Roman" pitchFamily="18" charset="0"/>
                <a:cs typeface="Times New Roman" pitchFamily="18" charset="0"/>
              </a:rPr>
              <a:t>Principal Sources of Optimization – Peep-hole optimization – DAG- Optimization of Basic Blocks–Global Data Flow Analysis – Efficient Data Flow Algorithm – Recent trends in Compiler Design</a:t>
            </a:r>
          </a:p>
          <a:p>
            <a:pPr algn="just"/>
            <a:endParaRPr lang="en-IN" sz="4800" dirty="0" smtClean="0">
              <a:latin typeface="Times New Roman" pitchFamily="18" charset="0"/>
              <a:cs typeface="Times New Roman" pitchFamily="18" charset="0"/>
            </a:endParaRPr>
          </a:p>
          <a:p>
            <a:pPr marL="0" indent="0" algn="just">
              <a:lnSpc>
                <a:spcPct val="100000"/>
              </a:lnSpc>
              <a:spcBef>
                <a:spcPts val="5"/>
              </a:spcBef>
              <a:buNone/>
            </a:pPr>
            <a:r>
              <a:rPr lang="en-US" sz="4800" b="1" spc="-5" dirty="0" smtClean="0">
                <a:latin typeface="Times New Roman"/>
                <a:cs typeface="Times New Roman"/>
              </a:rPr>
              <a:t>Text</a:t>
            </a:r>
            <a:r>
              <a:rPr lang="en-US" sz="4800" b="1" spc="-45" dirty="0" smtClean="0">
                <a:latin typeface="Times New Roman"/>
                <a:cs typeface="Times New Roman"/>
              </a:rPr>
              <a:t> </a:t>
            </a:r>
            <a:r>
              <a:rPr lang="en-US" sz="4800" b="1" spc="-5" dirty="0" smtClean="0">
                <a:latin typeface="Times New Roman"/>
                <a:cs typeface="Times New Roman"/>
              </a:rPr>
              <a:t>Books:</a:t>
            </a:r>
            <a:endParaRPr lang="en-US" sz="4800" dirty="0" smtClean="0">
              <a:latin typeface="Times New Roman"/>
              <a:cs typeface="Times New Roman"/>
            </a:endParaRPr>
          </a:p>
          <a:p>
            <a:pPr marL="12700" marR="9525">
              <a:lnSpc>
                <a:spcPts val="1380"/>
              </a:lnSpc>
              <a:buAutoNum type="arabicPeriod"/>
              <a:tabLst>
                <a:tab pos="195580" algn="l"/>
              </a:tabLst>
            </a:pPr>
            <a:r>
              <a:rPr lang="en-US" sz="4800" spc="-5" dirty="0" smtClean="0">
                <a:latin typeface="Times New Roman"/>
                <a:cs typeface="Times New Roman"/>
              </a:rPr>
              <a:t>Compilers</a:t>
            </a:r>
            <a:r>
              <a:rPr lang="en-US" sz="4800" spc="235" dirty="0" smtClean="0">
                <a:latin typeface="Times New Roman"/>
                <a:cs typeface="Times New Roman"/>
              </a:rPr>
              <a:t> </a:t>
            </a:r>
            <a:r>
              <a:rPr lang="en-US" sz="4800" spc="-5" dirty="0" smtClean="0">
                <a:latin typeface="Times New Roman"/>
                <a:cs typeface="Times New Roman"/>
              </a:rPr>
              <a:t>Principles,</a:t>
            </a:r>
            <a:r>
              <a:rPr lang="en-US" sz="4800" spc="240" dirty="0" smtClean="0">
                <a:latin typeface="Times New Roman"/>
                <a:cs typeface="Times New Roman"/>
              </a:rPr>
              <a:t> </a:t>
            </a:r>
            <a:r>
              <a:rPr lang="en-US" sz="4800" spc="-5" dirty="0" smtClean="0">
                <a:latin typeface="Times New Roman"/>
                <a:cs typeface="Times New Roman"/>
              </a:rPr>
              <a:t>Techniques,</a:t>
            </a:r>
            <a:r>
              <a:rPr lang="en-US" sz="4800" spc="245" dirty="0" smtClean="0">
                <a:latin typeface="Times New Roman"/>
                <a:cs typeface="Times New Roman"/>
              </a:rPr>
              <a:t> </a:t>
            </a:r>
            <a:r>
              <a:rPr lang="en-US" sz="4800" dirty="0" smtClean="0">
                <a:latin typeface="Times New Roman"/>
                <a:cs typeface="Times New Roman"/>
              </a:rPr>
              <a:t>&amp;</a:t>
            </a:r>
            <a:r>
              <a:rPr lang="en-US" sz="4800" spc="245" dirty="0" smtClean="0">
                <a:latin typeface="Times New Roman"/>
                <a:cs typeface="Times New Roman"/>
              </a:rPr>
              <a:t> </a:t>
            </a:r>
            <a:r>
              <a:rPr lang="en-US" sz="4800" spc="-5" dirty="0" smtClean="0">
                <a:latin typeface="Times New Roman"/>
                <a:cs typeface="Times New Roman"/>
              </a:rPr>
              <a:t>Tools,</a:t>
            </a:r>
            <a:r>
              <a:rPr lang="en-US" sz="4800" spc="245" dirty="0" smtClean="0">
                <a:latin typeface="Times New Roman"/>
                <a:cs typeface="Times New Roman"/>
              </a:rPr>
              <a:t> </a:t>
            </a:r>
            <a:r>
              <a:rPr lang="en-US" sz="4800" dirty="0" smtClean="0">
                <a:latin typeface="Times New Roman"/>
                <a:cs typeface="Times New Roman"/>
              </a:rPr>
              <a:t>by</a:t>
            </a:r>
            <a:r>
              <a:rPr lang="en-US" sz="4800" spc="245" dirty="0" smtClean="0">
                <a:latin typeface="Times New Roman"/>
                <a:cs typeface="Times New Roman"/>
              </a:rPr>
              <a:t> </a:t>
            </a:r>
            <a:r>
              <a:rPr lang="en-US" sz="4800" spc="-5" dirty="0" err="1" smtClean="0">
                <a:latin typeface="Times New Roman"/>
                <a:cs typeface="Times New Roman"/>
              </a:rPr>
              <a:t>A.V.Aho</a:t>
            </a:r>
            <a:r>
              <a:rPr lang="en-US" sz="4800" spc="-5" dirty="0" smtClean="0">
                <a:latin typeface="Times New Roman"/>
                <a:cs typeface="Times New Roman"/>
              </a:rPr>
              <a:t>,</a:t>
            </a:r>
            <a:r>
              <a:rPr lang="en-US" sz="4800" spc="245" dirty="0" smtClean="0">
                <a:latin typeface="Times New Roman"/>
                <a:cs typeface="Times New Roman"/>
              </a:rPr>
              <a:t> </a:t>
            </a:r>
            <a:r>
              <a:rPr lang="en-US" sz="4800" spc="-5" dirty="0" err="1" smtClean="0">
                <a:latin typeface="Times New Roman"/>
                <a:cs typeface="Times New Roman"/>
              </a:rPr>
              <a:t>R.Sethi</a:t>
            </a:r>
            <a:r>
              <a:rPr lang="en-US" sz="4800" spc="240" dirty="0" smtClean="0">
                <a:latin typeface="Times New Roman"/>
                <a:cs typeface="Times New Roman"/>
              </a:rPr>
              <a:t> </a:t>
            </a:r>
            <a:r>
              <a:rPr lang="en-US" sz="4800" dirty="0" smtClean="0">
                <a:latin typeface="Times New Roman"/>
                <a:cs typeface="Times New Roman"/>
              </a:rPr>
              <a:t>&amp;</a:t>
            </a:r>
            <a:r>
              <a:rPr lang="en-US" sz="4800" spc="245" dirty="0" smtClean="0">
                <a:latin typeface="Times New Roman"/>
                <a:cs typeface="Times New Roman"/>
              </a:rPr>
              <a:t> </a:t>
            </a:r>
            <a:r>
              <a:rPr lang="en-US" sz="4800" spc="-5" dirty="0" err="1" smtClean="0">
                <a:latin typeface="Times New Roman"/>
                <a:cs typeface="Times New Roman"/>
              </a:rPr>
              <a:t>J.D.Ullman</a:t>
            </a:r>
            <a:r>
              <a:rPr lang="en-US" sz="4800" spc="-5" dirty="0" smtClean="0">
                <a:latin typeface="Times New Roman"/>
                <a:cs typeface="Times New Roman"/>
              </a:rPr>
              <a:t>,</a:t>
            </a:r>
            <a:r>
              <a:rPr lang="en-US" sz="4800" spc="240" dirty="0" smtClean="0">
                <a:latin typeface="Times New Roman"/>
                <a:cs typeface="Times New Roman"/>
              </a:rPr>
              <a:t> </a:t>
            </a:r>
            <a:r>
              <a:rPr lang="en-US" sz="4800" spc="-5" dirty="0" smtClean="0">
                <a:latin typeface="Times New Roman"/>
                <a:cs typeface="Times New Roman"/>
              </a:rPr>
              <a:t>Pearson </a:t>
            </a:r>
            <a:r>
              <a:rPr lang="en-US" sz="4800" spc="-285" dirty="0" smtClean="0">
                <a:latin typeface="Times New Roman"/>
                <a:cs typeface="Times New Roman"/>
              </a:rPr>
              <a:t> </a:t>
            </a:r>
            <a:r>
              <a:rPr lang="en-US" sz="4800" spc="-5" dirty="0" smtClean="0">
                <a:latin typeface="Times New Roman"/>
                <a:cs typeface="Times New Roman"/>
              </a:rPr>
              <a:t>Education</a:t>
            </a:r>
            <a:endParaRPr lang="en-US" sz="4800" dirty="0" smtClean="0">
              <a:latin typeface="Times New Roman"/>
              <a:cs typeface="Times New Roman"/>
            </a:endParaRPr>
          </a:p>
          <a:p>
            <a:pPr algn="just"/>
            <a:endParaRPr lang="en-IN" dirty="0" smtClean="0">
              <a:latin typeface="Times New Roman" pitchFamily="18" charset="0"/>
              <a:cs typeface="Times New Roman" pitchFamily="18" charset="0"/>
            </a:endParaRPr>
          </a:p>
          <a:p>
            <a:endParaRPr lang="en-IN" dirty="0"/>
          </a:p>
        </p:txBody>
      </p:sp>
      <p:sp>
        <p:nvSpPr>
          <p:cNvPr id="2" name="Title 1"/>
          <p:cNvSpPr>
            <a:spLocks noGrp="1"/>
          </p:cNvSpPr>
          <p:nvPr>
            <p:ph type="title"/>
          </p:nvPr>
        </p:nvSpPr>
        <p:spPr/>
        <p:txBody>
          <a:bodyPr/>
          <a:lstStyle/>
          <a:p>
            <a:r>
              <a:rPr lang="en-US" b="1" dirty="0" smtClean="0">
                <a:solidFill>
                  <a:schemeClr val="tx1"/>
                </a:solidFill>
              </a:rPr>
              <a:t>Syllabus</a:t>
            </a:r>
            <a:endParaRPr lang="en-IN" b="1" dirty="0">
              <a:solidFill>
                <a:schemeClr val="tx1"/>
              </a:solidFill>
            </a:endParaRPr>
          </a:p>
        </p:txBody>
      </p:sp>
    </p:spTree>
    <p:extLst>
      <p:ext uri="{BB962C8B-B14F-4D97-AF65-F5344CB8AC3E}">
        <p14:creationId xmlns:p14="http://schemas.microsoft.com/office/powerpoint/2010/main" val="22453482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28800"/>
            <a:ext cx="8229600" cy="4525963"/>
          </a:xfrm>
        </p:spPr>
        <p:txBody>
          <a:bodyPr>
            <a:normAutofit/>
          </a:bodyPr>
          <a:lstStyle/>
          <a:p>
            <a:pPr marL="0" indent="0">
              <a:buNone/>
            </a:pPr>
            <a:r>
              <a:rPr lang="en-IN" b="1" dirty="0" smtClean="0">
                <a:latin typeface="Times New Roman" pitchFamily="18" charset="0"/>
                <a:cs typeface="Times New Roman" pitchFamily="18" charset="0"/>
              </a:rPr>
              <a:t>Unit I</a:t>
            </a:r>
          </a:p>
          <a:p>
            <a:r>
              <a:rPr lang="en-IN" dirty="0" smtClean="0">
                <a:latin typeface="Times New Roman" pitchFamily="18" charset="0"/>
                <a:cs typeface="Times New Roman" pitchFamily="18" charset="0"/>
              </a:rPr>
              <a:t> Phases of compiler</a:t>
            </a:r>
          </a:p>
          <a:p>
            <a:r>
              <a:rPr lang="en-IN" dirty="0" smtClean="0">
                <a:latin typeface="Times New Roman" pitchFamily="18" charset="0"/>
                <a:cs typeface="Times New Roman" pitchFamily="18" charset="0"/>
              </a:rPr>
              <a:t>Role of Lexical Analyser</a:t>
            </a:r>
          </a:p>
          <a:p>
            <a:r>
              <a:rPr lang="en-IN" dirty="0" smtClean="0">
                <a:latin typeface="Times New Roman" pitchFamily="18" charset="0"/>
                <a:cs typeface="Times New Roman" pitchFamily="18" charset="0"/>
              </a:rPr>
              <a:t>Regular Expressions to Automata</a:t>
            </a:r>
          </a:p>
          <a:p>
            <a:pPr marL="0" indent="0">
              <a:buNone/>
            </a:pPr>
            <a:endParaRPr lang="en-US" dirty="0" smtClean="0">
              <a:latin typeface="Times New Roman" pitchFamily="18" charset="0"/>
              <a:cs typeface="Times New Roman" pitchFamily="18" charset="0"/>
            </a:endParaRPr>
          </a:p>
          <a:p>
            <a:pPr marL="0" indent="0">
              <a:buNone/>
            </a:pPr>
            <a:r>
              <a:rPr lang="en-US" b="1" dirty="0" smtClean="0">
                <a:latin typeface="Times New Roman" pitchFamily="18" charset="0"/>
                <a:cs typeface="Times New Roman" pitchFamily="18" charset="0"/>
              </a:rPr>
              <a:t>Unit II</a:t>
            </a:r>
          </a:p>
          <a:p>
            <a:r>
              <a:rPr lang="en-IN" dirty="0" smtClean="0">
                <a:latin typeface="Times New Roman" pitchFamily="18" charset="0"/>
                <a:cs typeface="Times New Roman" pitchFamily="18" charset="0"/>
              </a:rPr>
              <a:t>Predictive Parser</a:t>
            </a:r>
          </a:p>
          <a:p>
            <a:r>
              <a:rPr lang="en-IN" dirty="0" smtClean="0">
                <a:latin typeface="Times New Roman" pitchFamily="18" charset="0"/>
                <a:cs typeface="Times New Roman" pitchFamily="18" charset="0"/>
              </a:rPr>
              <a:t>SLR Parsing Table</a:t>
            </a:r>
            <a:endParaRPr lang="en-IN" dirty="0"/>
          </a:p>
        </p:txBody>
      </p:sp>
      <p:sp>
        <p:nvSpPr>
          <p:cNvPr id="2" name="Title 1"/>
          <p:cNvSpPr>
            <a:spLocks noGrp="1"/>
          </p:cNvSpPr>
          <p:nvPr>
            <p:ph type="title"/>
          </p:nvPr>
        </p:nvSpPr>
        <p:spPr/>
        <p:txBody>
          <a:bodyPr/>
          <a:lstStyle/>
          <a:p>
            <a:r>
              <a:rPr lang="en-US" b="1" dirty="0" smtClean="0">
                <a:solidFill>
                  <a:schemeClr val="tx1"/>
                </a:solidFill>
              </a:rPr>
              <a:t>Important Questions</a:t>
            </a:r>
            <a:endParaRPr lang="en-IN" b="1" dirty="0">
              <a:solidFill>
                <a:schemeClr val="tx1"/>
              </a:solidFill>
            </a:endParaRPr>
          </a:p>
        </p:txBody>
      </p:sp>
    </p:spTree>
    <p:extLst>
      <p:ext uri="{BB962C8B-B14F-4D97-AF65-F5344CB8AC3E}">
        <p14:creationId xmlns:p14="http://schemas.microsoft.com/office/powerpoint/2010/main" val="30456131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700808"/>
            <a:ext cx="8064895" cy="4536504"/>
          </a:xfrm>
        </p:spPr>
        <p:txBody>
          <a:bodyPr>
            <a:normAutofit fontScale="92500" lnSpcReduction="10000"/>
          </a:bodyPr>
          <a:lstStyle/>
          <a:p>
            <a:pPr marL="0" indent="0">
              <a:buNone/>
            </a:pPr>
            <a:r>
              <a:rPr lang="en-US" b="1" dirty="0" smtClean="0">
                <a:latin typeface="Times New Roman" pitchFamily="18" charset="0"/>
                <a:cs typeface="Times New Roman" pitchFamily="18" charset="0"/>
              </a:rPr>
              <a:t>Unit III</a:t>
            </a:r>
          </a:p>
          <a:p>
            <a:r>
              <a:rPr lang="en-IN" dirty="0" smtClean="0">
                <a:latin typeface="Times New Roman" pitchFamily="18" charset="0"/>
                <a:cs typeface="Times New Roman" pitchFamily="18" charset="0"/>
              </a:rPr>
              <a:t>Syntax directed Definitions-Construction of Syntax Tree</a:t>
            </a:r>
          </a:p>
          <a:p>
            <a:r>
              <a:rPr lang="en-US" dirty="0" smtClean="0">
                <a:latin typeface="Times New Roman" pitchFamily="18" charset="0"/>
                <a:cs typeface="Times New Roman" pitchFamily="18" charset="0"/>
              </a:rPr>
              <a:t>Three Address code</a:t>
            </a:r>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pPr marL="0" indent="0">
              <a:buNone/>
            </a:pPr>
            <a:r>
              <a:rPr lang="en-IN" b="1" dirty="0" smtClean="0">
                <a:latin typeface="Times New Roman" pitchFamily="18" charset="0"/>
                <a:cs typeface="Times New Roman" pitchFamily="18" charset="0"/>
              </a:rPr>
              <a:t>Unit IV</a:t>
            </a:r>
          </a:p>
          <a:p>
            <a:pPr>
              <a:buFont typeface="Wingdings" pitchFamily="2" charset="2"/>
              <a:buChar char="§"/>
            </a:pPr>
            <a:r>
              <a:rPr lang="en-US" dirty="0" smtClean="0">
                <a:latin typeface="Times New Roman" pitchFamily="18" charset="0"/>
                <a:cs typeface="Times New Roman" pitchFamily="18" charset="0"/>
              </a:rPr>
              <a:t>Storage Organization</a:t>
            </a:r>
          </a:p>
          <a:p>
            <a:pPr>
              <a:buFont typeface="Wingdings" pitchFamily="2" charset="2"/>
              <a:buChar char="§"/>
            </a:pPr>
            <a:r>
              <a:rPr lang="en-US" dirty="0" smtClean="0">
                <a:latin typeface="Times New Roman" pitchFamily="18" charset="0"/>
                <a:cs typeface="Times New Roman" pitchFamily="18" charset="0"/>
              </a:rPr>
              <a:t>Basic Block</a:t>
            </a:r>
          </a:p>
          <a:p>
            <a:pPr>
              <a:buFont typeface="Wingdings" pitchFamily="2" charset="2"/>
              <a:buChar char="§"/>
            </a:pPr>
            <a:r>
              <a:rPr lang="en-IN" dirty="0">
                <a:latin typeface="Times New Roman" pitchFamily="18" charset="0"/>
                <a:cs typeface="Times New Roman" pitchFamily="18" charset="0"/>
              </a:rPr>
              <a:t>Design of a simple Code </a:t>
            </a:r>
            <a:r>
              <a:rPr lang="en-IN" dirty="0" smtClean="0">
                <a:latin typeface="Times New Roman" pitchFamily="18" charset="0"/>
                <a:cs typeface="Times New Roman" pitchFamily="18" charset="0"/>
              </a:rPr>
              <a:t>Generator</a:t>
            </a:r>
          </a:p>
          <a:p>
            <a:pPr marL="0" indent="0">
              <a:buNone/>
            </a:pPr>
            <a:endParaRPr lang="en-US" dirty="0" smtClean="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Unit </a:t>
            </a:r>
            <a:r>
              <a:rPr lang="en-US" b="1" dirty="0" smtClean="0">
                <a:latin typeface="Times New Roman" pitchFamily="18" charset="0"/>
                <a:cs typeface="Times New Roman" pitchFamily="18" charset="0"/>
              </a:rPr>
              <a:t>V</a:t>
            </a:r>
          </a:p>
          <a:p>
            <a:r>
              <a:rPr lang="en-US" dirty="0" smtClean="0">
                <a:latin typeface="Times New Roman" pitchFamily="18" charset="0"/>
                <a:cs typeface="Times New Roman" pitchFamily="18" charset="0"/>
              </a:rPr>
              <a:t>Code Optimization</a:t>
            </a:r>
          </a:p>
          <a:p>
            <a:r>
              <a:rPr lang="en-US" dirty="0" smtClean="0">
                <a:latin typeface="Times New Roman" pitchFamily="18" charset="0"/>
                <a:cs typeface="Times New Roman" pitchFamily="18" charset="0"/>
              </a:rPr>
              <a:t>DAG</a:t>
            </a:r>
            <a:endParaRPr lang="en-US" dirty="0">
              <a:latin typeface="Times New Roman" pitchFamily="18" charset="0"/>
              <a:cs typeface="Times New Roman" pitchFamily="18" charset="0"/>
            </a:endParaRPr>
          </a:p>
          <a:p>
            <a:pPr>
              <a:buFont typeface="Arial" charset="0"/>
              <a:buChar char="•"/>
            </a:pPr>
            <a:endParaRPr lang="en-IN" b="1" dirty="0" smtClean="0">
              <a:latin typeface="Times New Roman" pitchFamily="18" charset="0"/>
              <a:cs typeface="Times New Roman" pitchFamily="18" charset="0"/>
            </a:endParaRPr>
          </a:p>
          <a:p>
            <a:endParaRPr lang="en-IN" dirty="0"/>
          </a:p>
        </p:txBody>
      </p:sp>
      <p:sp>
        <p:nvSpPr>
          <p:cNvPr id="2" name="Title 1"/>
          <p:cNvSpPr>
            <a:spLocks noGrp="1"/>
          </p:cNvSpPr>
          <p:nvPr>
            <p:ph type="title"/>
          </p:nvPr>
        </p:nvSpPr>
        <p:spPr/>
        <p:txBody>
          <a:bodyPr/>
          <a:lstStyle/>
          <a:p>
            <a:endParaRPr lang="en-IN" dirty="0"/>
          </a:p>
        </p:txBody>
      </p:sp>
    </p:spTree>
    <p:extLst>
      <p:ext uri="{BB962C8B-B14F-4D97-AF65-F5344CB8AC3E}">
        <p14:creationId xmlns:p14="http://schemas.microsoft.com/office/powerpoint/2010/main" val="35375718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772816"/>
            <a:ext cx="8424935" cy="4608512"/>
          </a:xfrm>
        </p:spPr>
        <p:txBody>
          <a:bodyPr>
            <a:normAutofit/>
          </a:bodyPr>
          <a:lstStyle/>
          <a:p>
            <a:r>
              <a:rPr lang="en-IN" dirty="0" smtClean="0"/>
              <a:t>A </a:t>
            </a:r>
            <a:r>
              <a:rPr lang="en-IN" dirty="0"/>
              <a:t>compiler is a </a:t>
            </a:r>
            <a:r>
              <a:rPr lang="en-IN" u="sng" dirty="0">
                <a:hlinkClick r:id="rId2" tooltip="Computer program"/>
              </a:rPr>
              <a:t>computer program</a:t>
            </a:r>
            <a:r>
              <a:rPr lang="en-IN" u="sng" dirty="0"/>
              <a:t> </a:t>
            </a:r>
            <a:r>
              <a:rPr lang="en-IN" dirty="0"/>
              <a:t> that transforms </a:t>
            </a:r>
            <a:r>
              <a:rPr lang="en-IN" dirty="0">
                <a:hlinkClick r:id="rId3" tooltip="Source code"/>
              </a:rPr>
              <a:t>source code</a:t>
            </a:r>
            <a:r>
              <a:rPr lang="en-IN" dirty="0"/>
              <a:t> written in a </a:t>
            </a:r>
            <a:r>
              <a:rPr lang="en-IN" dirty="0">
                <a:hlinkClick r:id="rId4" tooltip="Programming language"/>
              </a:rPr>
              <a:t>programming language</a:t>
            </a:r>
            <a:r>
              <a:rPr lang="en-IN" dirty="0"/>
              <a:t> (the source language) into another computer language (the target language), with the latter takes binary form known as </a:t>
            </a:r>
            <a:r>
              <a:rPr lang="en-IN" dirty="0">
                <a:hlinkClick r:id="rId5" tooltip="Object code"/>
              </a:rPr>
              <a:t>object </a:t>
            </a:r>
            <a:r>
              <a:rPr lang="en-IN" dirty="0" smtClean="0">
                <a:hlinkClick r:id="rId5" tooltip="Object code"/>
              </a:rPr>
              <a:t>code</a:t>
            </a:r>
            <a:r>
              <a:rPr lang="en-IN" dirty="0" smtClean="0"/>
              <a:t>.</a:t>
            </a:r>
            <a:endParaRPr lang="en-IN" dirty="0"/>
          </a:p>
          <a:p>
            <a:r>
              <a:rPr lang="en-IN" dirty="0"/>
              <a:t>It create an </a:t>
            </a:r>
            <a:r>
              <a:rPr lang="en-IN" dirty="0">
                <a:hlinkClick r:id="rId6" tooltip="Executable"/>
              </a:rPr>
              <a:t>executable</a:t>
            </a:r>
            <a:r>
              <a:rPr lang="en-IN" dirty="0"/>
              <a:t> </a:t>
            </a:r>
            <a:r>
              <a:rPr lang="en-IN" dirty="0" smtClean="0"/>
              <a:t>program</a:t>
            </a:r>
          </a:p>
          <a:p>
            <a:pPr marL="0" indent="0">
              <a:buNone/>
            </a:pPr>
            <a:endParaRPr lang="en-IN" dirty="0"/>
          </a:p>
          <a:p>
            <a:endParaRPr lang="en-IN" dirty="0"/>
          </a:p>
        </p:txBody>
      </p:sp>
      <p:sp>
        <p:nvSpPr>
          <p:cNvPr id="3" name="Title 2"/>
          <p:cNvSpPr>
            <a:spLocks noGrp="1"/>
          </p:cNvSpPr>
          <p:nvPr>
            <p:ph type="title"/>
          </p:nvPr>
        </p:nvSpPr>
        <p:spPr/>
        <p:txBody>
          <a:bodyPr>
            <a:normAutofit/>
          </a:bodyPr>
          <a:lstStyle/>
          <a:p>
            <a:r>
              <a:rPr lang="en-IN" b="1" dirty="0" smtClean="0">
                <a:solidFill>
                  <a:schemeClr val="tx1">
                    <a:lumMod val="95000"/>
                    <a:lumOff val="5000"/>
                  </a:schemeClr>
                </a:solidFill>
              </a:rPr>
              <a:t>COMPILER</a:t>
            </a:r>
            <a:endParaRPr lang="en-IN" dirty="0">
              <a:solidFill>
                <a:schemeClr val="tx1">
                  <a:lumMod val="95000"/>
                  <a:lumOff val="5000"/>
                </a:schemeClr>
              </a:solidFill>
            </a:endParaRPr>
          </a:p>
        </p:txBody>
      </p:sp>
      <p:pic>
        <p:nvPicPr>
          <p:cNvPr id="4" name="Picture 2" descr="Image result for compiler"/>
          <p:cNvPicPr>
            <a:picLocks noChangeAspect="1" noChangeArrowheads="1"/>
          </p:cNvPicPr>
          <p:nvPr/>
        </p:nvPicPr>
        <p:blipFill>
          <a:blip r:embed="rId7"/>
          <a:srcRect/>
          <a:stretch>
            <a:fillRect/>
          </a:stretch>
        </p:blipFill>
        <p:spPr bwMode="auto">
          <a:xfrm>
            <a:off x="467544" y="4191000"/>
            <a:ext cx="7543800" cy="2667000"/>
          </a:xfrm>
          <a:prstGeom prst="rect">
            <a:avLst/>
          </a:prstGeom>
          <a:noFill/>
        </p:spPr>
      </p:pic>
    </p:spTree>
    <p:extLst>
      <p:ext uri="{BB962C8B-B14F-4D97-AF65-F5344CB8AC3E}">
        <p14:creationId xmlns:p14="http://schemas.microsoft.com/office/powerpoint/2010/main" val="9150542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b="1" dirty="0">
                <a:solidFill>
                  <a:schemeClr val="tx1">
                    <a:lumMod val="95000"/>
                    <a:lumOff val="5000"/>
                  </a:schemeClr>
                </a:solidFill>
              </a:rPr>
              <a:t>Structure of </a:t>
            </a:r>
            <a:r>
              <a:rPr lang="en-IN" b="1" dirty="0" smtClean="0">
                <a:solidFill>
                  <a:schemeClr val="tx1">
                    <a:lumMod val="95000"/>
                    <a:lumOff val="5000"/>
                  </a:schemeClr>
                </a:solidFill>
              </a:rPr>
              <a:t>Compiler</a:t>
            </a:r>
            <a:endParaRPr lang="en-IN" dirty="0">
              <a:solidFill>
                <a:schemeClr val="tx1">
                  <a:lumMod val="95000"/>
                  <a:lumOff val="5000"/>
                </a:schemeClr>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4258" y="3297079"/>
            <a:ext cx="7163421" cy="2206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27584" y="2204864"/>
            <a:ext cx="5832648" cy="646331"/>
          </a:xfrm>
          <a:prstGeom prst="rect">
            <a:avLst/>
          </a:prstGeom>
          <a:noFill/>
        </p:spPr>
        <p:txBody>
          <a:bodyPr wrap="square" rtlCol="0">
            <a:spAutoFit/>
          </a:bodyPr>
          <a:lstStyle/>
          <a:p>
            <a:r>
              <a:rPr lang="en-US" altLang="zh-TW" dirty="0">
                <a:latin typeface="Arial Unicode MS" pitchFamily="34" charset="-128"/>
                <a:ea typeface="Arial Unicode MS" pitchFamily="34" charset="-128"/>
                <a:cs typeface="Arial Unicode MS" pitchFamily="34" charset="-128"/>
              </a:rPr>
              <a:t>Any compiler must perform two major tasks</a:t>
            </a:r>
          </a:p>
          <a:p>
            <a:endParaRPr lang="en-IN" dirty="0"/>
          </a:p>
        </p:txBody>
      </p:sp>
    </p:spTree>
    <p:extLst>
      <p:ext uri="{BB962C8B-B14F-4D97-AF65-F5344CB8AC3E}">
        <p14:creationId xmlns:p14="http://schemas.microsoft.com/office/powerpoint/2010/main" val="34370575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lumMod val="95000"/>
                    <a:lumOff val="5000"/>
                  </a:schemeClr>
                </a:solidFill>
              </a:rPr>
              <a:t>Cousins of compiler</a:t>
            </a:r>
            <a:endParaRPr lang="en-IN" b="1" dirty="0">
              <a:solidFill>
                <a:schemeClr val="tx1">
                  <a:lumMod val="95000"/>
                  <a:lumOff val="5000"/>
                </a:schemeClr>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7744" y="1268760"/>
            <a:ext cx="4216943" cy="577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26948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27584" y="1442253"/>
            <a:ext cx="6768752" cy="5094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b="1" dirty="0" smtClean="0">
                <a:solidFill>
                  <a:schemeClr val="tx1"/>
                </a:solidFill>
                <a:latin typeface="Times New Roman" pitchFamily="18" charset="0"/>
                <a:cs typeface="Times New Roman" pitchFamily="18" charset="0"/>
              </a:rPr>
              <a:t>Phases of compiler</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431777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988840"/>
            <a:ext cx="8064895" cy="4392488"/>
          </a:xfrm>
        </p:spPr>
        <p:txBody>
          <a:bodyPr>
            <a:normAutofit/>
          </a:bodyPr>
          <a:lstStyle/>
          <a:p>
            <a:pPr algn="just"/>
            <a:r>
              <a:rPr lang="en-US" sz="2000" dirty="0">
                <a:latin typeface="Times New Roman" pitchFamily="18" charset="0"/>
                <a:cs typeface="Times New Roman" pitchFamily="18" charset="0"/>
              </a:rPr>
              <a:t>The tasks of the Error Handling process are to detect each error, report it to the user, and then make some recover strategy and implement them to handle error. An Error is the blank entries in the symbol table. There are two types of error </a:t>
            </a:r>
            <a:r>
              <a:rPr lang="en-US" sz="2000" dirty="0" smtClean="0">
                <a:latin typeface="Times New Roman" pitchFamily="18" charset="0"/>
                <a:cs typeface="Times New Roman" pitchFamily="18" charset="0"/>
              </a:rPr>
              <a:t>:</a:t>
            </a:r>
          </a:p>
          <a:p>
            <a:pPr marL="0" indent="0" algn="just">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b="1" dirty="0">
                <a:latin typeface="Times New Roman" pitchFamily="18" charset="0"/>
                <a:cs typeface="Times New Roman" pitchFamily="18" charset="0"/>
              </a:rPr>
              <a:t>Run-Time Error</a:t>
            </a:r>
            <a:r>
              <a:rPr lang="en-US" sz="2000" dirty="0">
                <a:latin typeface="Times New Roman" pitchFamily="18" charset="0"/>
                <a:cs typeface="Times New Roman" pitchFamily="18" charset="0"/>
              </a:rPr>
              <a:t> : A run-time error is an error which takes place during the execution of a program, and usually happens because of adverse system parameters or invalid input data</a:t>
            </a:r>
            <a:r>
              <a:rPr lang="en-US" sz="2000" dirty="0" smtClean="0">
                <a:latin typeface="Times New Roman" pitchFamily="18" charset="0"/>
                <a:cs typeface="Times New Roman" pitchFamily="18" charset="0"/>
              </a:rPr>
              <a:t>.</a:t>
            </a:r>
          </a:p>
          <a:p>
            <a:pPr marL="0" indent="0" algn="just">
              <a:buNone/>
            </a:pP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b="1" dirty="0">
                <a:latin typeface="Times New Roman" pitchFamily="18" charset="0"/>
                <a:cs typeface="Times New Roman" pitchFamily="18" charset="0"/>
              </a:rPr>
              <a:t>Compile-Time Error</a:t>
            </a:r>
            <a:r>
              <a:rPr lang="en-US" sz="2000" dirty="0">
                <a:latin typeface="Times New Roman" pitchFamily="18" charset="0"/>
                <a:cs typeface="Times New Roman" pitchFamily="18" charset="0"/>
              </a:rPr>
              <a:t>: Compile-time errors rises at compile time, before execution of the program.</a:t>
            </a:r>
            <a:endParaRPr lang="en-IN" sz="20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solidFill>
                  <a:schemeClr val="tx1"/>
                </a:solidFill>
              </a:rPr>
              <a:t>Error Handling</a:t>
            </a:r>
            <a:endParaRPr lang="en-IN" b="1" dirty="0">
              <a:solidFill>
                <a:schemeClr val="tx1"/>
              </a:solidFill>
            </a:endParaRPr>
          </a:p>
        </p:txBody>
      </p:sp>
    </p:spTree>
    <p:extLst>
      <p:ext uri="{BB962C8B-B14F-4D97-AF65-F5344CB8AC3E}">
        <p14:creationId xmlns:p14="http://schemas.microsoft.com/office/powerpoint/2010/main" val="12824136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IN" b="1" dirty="0">
                <a:solidFill>
                  <a:schemeClr val="tx1"/>
                </a:solidFill>
                <a:latin typeface="Times New Roman" pitchFamily="18" charset="0"/>
                <a:cs typeface="Times New Roman" pitchFamily="18" charset="0"/>
              </a:rPr>
              <a:t>Role of Lexical Analyser</a:t>
            </a:r>
            <a:r>
              <a:rPr lang="en-IN" dirty="0">
                <a:latin typeface="Times New Roman" pitchFamily="18" charset="0"/>
                <a:cs typeface="Times New Roman" pitchFamily="18" charset="0"/>
              </a:rPr>
              <a:t/>
            </a:r>
            <a:br>
              <a:rPr lang="en-IN" dirty="0">
                <a:latin typeface="Times New Roman" pitchFamily="18" charset="0"/>
                <a:cs typeface="Times New Roman" pitchFamily="18" charset="0"/>
              </a:rPr>
            </a:b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2636912"/>
            <a:ext cx="7951899"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81918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7" y="1916832"/>
            <a:ext cx="7884864" cy="4209331"/>
          </a:xfrm>
        </p:spPr>
        <p:txBody>
          <a:bodyPr/>
          <a:lstStyle/>
          <a:p>
            <a:pPr algn="just" fontAlgn="base"/>
            <a:r>
              <a:rPr lang="en-US" sz="2400" b="1" dirty="0">
                <a:latin typeface="Times New Roman" pitchFamily="18" charset="0"/>
                <a:cs typeface="Times New Roman" pitchFamily="18" charset="0"/>
              </a:rPr>
              <a:t>Lexical :</a:t>
            </a:r>
            <a:r>
              <a:rPr lang="en-US" sz="2400" dirty="0">
                <a:latin typeface="Times New Roman" pitchFamily="18" charset="0"/>
                <a:cs typeface="Times New Roman" pitchFamily="18" charset="0"/>
              </a:rPr>
              <a:t>This includes misspellings of identifiers, keywords or operators.</a:t>
            </a:r>
          </a:p>
          <a:p>
            <a:pPr algn="just" fontAlgn="base"/>
            <a:r>
              <a:rPr lang="en-US" sz="2400" b="1" dirty="0">
                <a:latin typeface="Times New Roman" pitchFamily="18" charset="0"/>
                <a:cs typeface="Times New Roman" pitchFamily="18" charset="0"/>
              </a:rPr>
              <a:t>Syntactical :</a:t>
            </a:r>
            <a:r>
              <a:rPr lang="en-US" sz="2400" dirty="0">
                <a:latin typeface="Times New Roman" pitchFamily="18" charset="0"/>
                <a:cs typeface="Times New Roman" pitchFamily="18" charset="0"/>
              </a:rPr>
              <a:t>missing semicolon or unbalanced parenthesis.</a:t>
            </a:r>
          </a:p>
          <a:p>
            <a:pPr algn="just" fontAlgn="base"/>
            <a:r>
              <a:rPr lang="en-US" sz="2400" b="1" dirty="0" err="1">
                <a:latin typeface="Times New Roman" pitchFamily="18" charset="0"/>
                <a:cs typeface="Times New Roman" pitchFamily="18" charset="0"/>
              </a:rPr>
              <a:t>Semantical</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incompatible value assignment or type mismatches between operator and operand.</a:t>
            </a:r>
          </a:p>
          <a:p>
            <a:pPr algn="just" fontAlgn="base"/>
            <a:r>
              <a:rPr lang="en-US" sz="2400" b="1" dirty="0">
                <a:latin typeface="Times New Roman" pitchFamily="18" charset="0"/>
                <a:cs typeface="Times New Roman" pitchFamily="18" charset="0"/>
              </a:rPr>
              <a:t>Logical :</a:t>
            </a:r>
            <a:r>
              <a:rPr lang="en-US" sz="2400" dirty="0">
                <a:latin typeface="Times New Roman" pitchFamily="18" charset="0"/>
                <a:cs typeface="Times New Roman" pitchFamily="18" charset="0"/>
              </a:rPr>
              <a:t>code not reachable, infinite loop.</a:t>
            </a:r>
          </a:p>
          <a:p>
            <a:endParaRPr lang="en-IN" dirty="0"/>
          </a:p>
        </p:txBody>
      </p:sp>
      <p:sp>
        <p:nvSpPr>
          <p:cNvPr id="2" name="Title 1"/>
          <p:cNvSpPr>
            <a:spLocks noGrp="1"/>
          </p:cNvSpPr>
          <p:nvPr>
            <p:ph type="title"/>
          </p:nvPr>
        </p:nvSpPr>
        <p:spPr/>
        <p:txBody>
          <a:bodyPr/>
          <a:lstStyle/>
          <a:p>
            <a:r>
              <a:rPr lang="en-US" b="1" dirty="0" smtClean="0">
                <a:solidFill>
                  <a:schemeClr val="tx1"/>
                </a:solidFill>
              </a:rPr>
              <a:t>Error handling</a:t>
            </a:r>
            <a:endParaRPr lang="en-IN" b="1" dirty="0">
              <a:solidFill>
                <a:schemeClr val="tx1"/>
              </a:solidFill>
            </a:endParaRPr>
          </a:p>
        </p:txBody>
      </p:sp>
    </p:spTree>
    <p:extLst>
      <p:ext uri="{BB962C8B-B14F-4D97-AF65-F5344CB8AC3E}">
        <p14:creationId xmlns:p14="http://schemas.microsoft.com/office/powerpoint/2010/main" val="22084341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solidFill>
              </a:rPr>
              <a:t>Regular Expression to DFA</a:t>
            </a:r>
            <a:endParaRPr lang="en-IN" b="1" dirty="0">
              <a:solidFill>
                <a:schemeClr val="tx1"/>
              </a:solidFill>
            </a:endParaRPr>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532" y="1844824"/>
            <a:ext cx="8123326" cy="4569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27787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ctr">
              <a:buNone/>
            </a:pPr>
            <a:r>
              <a:rPr lang="en-IN" sz="3600" b="1" dirty="0">
                <a:latin typeface="Times New Roman" pitchFamily="18" charset="0"/>
                <a:cs typeface="Times New Roman" pitchFamily="18" charset="0"/>
              </a:rPr>
              <a:t>SYNTAX ANALYSIS </a:t>
            </a:r>
            <a:endParaRPr lang="en-IN" sz="3600" dirty="0"/>
          </a:p>
        </p:txBody>
      </p:sp>
      <p:sp>
        <p:nvSpPr>
          <p:cNvPr id="3" name="Title 2"/>
          <p:cNvSpPr>
            <a:spLocks noGrp="1"/>
          </p:cNvSpPr>
          <p:nvPr>
            <p:ph type="title"/>
          </p:nvPr>
        </p:nvSpPr>
        <p:spPr/>
        <p:txBody>
          <a:bodyPr/>
          <a:lstStyle/>
          <a:p>
            <a:r>
              <a:rPr lang="en-US" b="1" dirty="0" smtClean="0">
                <a:solidFill>
                  <a:schemeClr val="tx1"/>
                </a:solidFill>
              </a:rPr>
              <a:t>Unit II</a:t>
            </a:r>
            <a:endParaRPr lang="en-IN" b="1" dirty="0">
              <a:solidFill>
                <a:schemeClr val="tx1"/>
              </a:solidFill>
            </a:endParaRPr>
          </a:p>
        </p:txBody>
      </p:sp>
    </p:spTree>
    <p:extLst>
      <p:ext uri="{BB962C8B-B14F-4D97-AF65-F5344CB8AC3E}">
        <p14:creationId xmlns:p14="http://schemas.microsoft.com/office/powerpoint/2010/main" val="38743095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2776"/>
            <a:ext cx="8229600" cy="4713387"/>
          </a:xfrm>
        </p:spPr>
        <p:txBody>
          <a:bodyPr>
            <a:normAutofit fontScale="77500" lnSpcReduction="20000"/>
          </a:bodyPr>
          <a:lstStyle/>
          <a:p>
            <a:pPr fontAlgn="base"/>
            <a:r>
              <a:rPr lang="en-US" b="1" dirty="0">
                <a:latin typeface="Times New Roman" pitchFamily="18" charset="0"/>
                <a:cs typeface="Times New Roman" pitchFamily="18" charset="0"/>
              </a:rPr>
              <a:t>Left Recursion</a:t>
            </a:r>
            <a:r>
              <a:rPr lang="en-US" dirty="0">
                <a:latin typeface="Times New Roman" pitchFamily="18" charset="0"/>
                <a:cs typeface="Times New Roman" pitchFamily="18" charset="0"/>
              </a:rPr>
              <a:t> : The grammar : A -&gt; </a:t>
            </a:r>
            <a:r>
              <a:rPr lang="en-US" dirty="0" err="1">
                <a:latin typeface="Times New Roman" pitchFamily="18" charset="0"/>
                <a:cs typeface="Times New Roman" pitchFamily="18" charset="0"/>
              </a:rPr>
              <a:t>Aa</a:t>
            </a:r>
            <a:r>
              <a:rPr lang="en-US" dirty="0">
                <a:latin typeface="Times New Roman" pitchFamily="18" charset="0"/>
                <a:cs typeface="Times New Roman" pitchFamily="18" charset="0"/>
              </a:rPr>
              <a:t> | a is left recursive. Top down parsing techniques cannot handle left recursive grammar so we convert left recursion into right recursion</a:t>
            </a:r>
            <a:r>
              <a:rPr lang="en-US" dirty="0" smtClean="0">
                <a:latin typeface="Times New Roman" pitchFamily="18" charset="0"/>
                <a:cs typeface="Times New Roman" pitchFamily="18" charset="0"/>
              </a:rPr>
              <a:t>.</a:t>
            </a:r>
          </a:p>
          <a:p>
            <a:pPr marL="0" indent="0" fontAlgn="base">
              <a:buNone/>
            </a:pPr>
            <a:r>
              <a:rPr lang="en-US" dirty="0" smtClean="0">
                <a:latin typeface="Times New Roman" pitchFamily="18" charset="0"/>
                <a:cs typeface="Times New Roman" pitchFamily="18" charset="0"/>
              </a:rPr>
              <a:t>	Left </a:t>
            </a:r>
            <a:r>
              <a:rPr lang="en-US" dirty="0">
                <a:latin typeface="Times New Roman" pitchFamily="18" charset="0"/>
                <a:cs typeface="Times New Roman" pitchFamily="18" charset="0"/>
              </a:rPr>
              <a:t>recursion elimination : A -&gt; </a:t>
            </a:r>
            <a:r>
              <a:rPr lang="en-US" dirty="0" err="1">
                <a:latin typeface="Times New Roman" pitchFamily="18" charset="0"/>
                <a:cs typeface="Times New Roman" pitchFamily="18" charset="0"/>
              </a:rPr>
              <a:t>Aa</a:t>
            </a:r>
            <a:r>
              <a:rPr lang="en-US" dirty="0">
                <a:latin typeface="Times New Roman" pitchFamily="18" charset="0"/>
                <a:cs typeface="Times New Roman" pitchFamily="18" charset="0"/>
              </a:rPr>
              <a:t> | a ⇒ </a:t>
            </a:r>
            <a:endParaRPr lang="en-US" dirty="0" smtClean="0">
              <a:latin typeface="Times New Roman" pitchFamily="18" charset="0"/>
              <a:cs typeface="Times New Roman" pitchFamily="18" charset="0"/>
            </a:endParaRPr>
          </a:p>
          <a:p>
            <a:pPr marL="0" indent="0" fontAlgn="base">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-&gt; </a:t>
            </a:r>
            <a:r>
              <a:rPr lang="en-US" dirty="0" err="1">
                <a:latin typeface="Times New Roman" pitchFamily="18" charset="0"/>
                <a:cs typeface="Times New Roman" pitchFamily="18" charset="0"/>
              </a:rPr>
              <a:t>aA</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a:t>
            </a:r>
            <a:r>
              <a:rPr lang="en-US" dirty="0">
                <a:latin typeface="Times New Roman" pitchFamily="18" charset="0"/>
                <a:cs typeface="Times New Roman" pitchFamily="18" charset="0"/>
              </a:rPr>
              <a:t>’ -&gt; </a:t>
            </a:r>
            <a:r>
              <a:rPr lang="en-US" dirty="0" err="1">
                <a:latin typeface="Times New Roman" pitchFamily="18" charset="0"/>
                <a:cs typeface="Times New Roman" pitchFamily="18" charset="0"/>
              </a:rPr>
              <a:t>aA</a:t>
            </a:r>
            <a:r>
              <a:rPr lang="en-US" dirty="0">
                <a:latin typeface="Times New Roman" pitchFamily="18" charset="0"/>
                <a:cs typeface="Times New Roman" pitchFamily="18" charset="0"/>
              </a:rPr>
              <a:t>’ | </a:t>
            </a:r>
          </a:p>
          <a:p>
            <a:pPr fontAlgn="base"/>
            <a:r>
              <a:rPr lang="en-US" b="1" dirty="0">
                <a:latin typeface="Times New Roman" pitchFamily="18" charset="0"/>
                <a:cs typeface="Times New Roman" pitchFamily="18" charset="0"/>
              </a:rPr>
              <a:t>Left Factoring</a:t>
            </a:r>
            <a:r>
              <a:rPr lang="en-US" dirty="0">
                <a:latin typeface="Times New Roman" pitchFamily="18" charset="0"/>
                <a:cs typeface="Times New Roman" pitchFamily="18" charset="0"/>
              </a:rPr>
              <a:t> : If a grammar has common prefixes in </a:t>
            </a:r>
            <a:r>
              <a:rPr lang="en-US" dirty="0" err="1">
                <a:latin typeface="Times New Roman" pitchFamily="18" charset="0"/>
                <a:cs typeface="Times New Roman" pitchFamily="18" charset="0"/>
              </a:rPr>
              <a:t>r.h.s</a:t>
            </a:r>
            <a:r>
              <a:rPr lang="en-US" dirty="0">
                <a:latin typeface="Times New Roman" pitchFamily="18" charset="0"/>
                <a:cs typeface="Times New Roman" pitchFamily="18" charset="0"/>
              </a:rPr>
              <a:t> of nonterminal then </a:t>
            </a:r>
            <a:r>
              <a:rPr lang="en-US" dirty="0" smtClean="0">
                <a:latin typeface="Times New Roman" pitchFamily="18" charset="0"/>
                <a:cs typeface="Times New Roman" pitchFamily="18" charset="0"/>
              </a:rPr>
              <a:t>sub </a:t>
            </a:r>
            <a:r>
              <a:rPr lang="en-US" dirty="0">
                <a:latin typeface="Times New Roman" pitchFamily="18" charset="0"/>
                <a:cs typeface="Times New Roman" pitchFamily="18" charset="0"/>
              </a:rPr>
              <a:t>grammar needs to be left factored by eliminating common prefixes as follows :</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-&gt; ab1 | ac2 ⇒ </a:t>
            </a:r>
            <a:endParaRPr lang="en-US" dirty="0" smtClean="0">
              <a:latin typeface="Times New Roman" pitchFamily="18" charset="0"/>
              <a:cs typeface="Times New Roman" pitchFamily="18" charset="0"/>
            </a:endParaRPr>
          </a:p>
          <a:p>
            <a:pPr marL="0" indent="0" fontAlgn="base">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 </a:t>
            </a:r>
            <a:r>
              <a:rPr lang="en-US" dirty="0">
                <a:latin typeface="Times New Roman" pitchFamily="18" charset="0"/>
                <a:cs typeface="Times New Roman" pitchFamily="18" charset="0"/>
              </a:rPr>
              <a:t>-&gt; </a:t>
            </a:r>
            <a:r>
              <a:rPr lang="en-US" dirty="0" err="1" smtClean="0">
                <a:latin typeface="Times New Roman" pitchFamily="18" charset="0"/>
                <a:cs typeface="Times New Roman" pitchFamily="18" charset="0"/>
              </a:rPr>
              <a:t>aA</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smtClean="0">
                <a:latin typeface="Times New Roman" pitchFamily="18" charset="0"/>
                <a:cs typeface="Times New Roman" pitchFamily="18" charset="0"/>
              </a:rPr>
              <a:t>			A</a:t>
            </a:r>
            <a:r>
              <a:rPr lang="en-US" dirty="0">
                <a:latin typeface="Times New Roman" pitchFamily="18" charset="0"/>
                <a:cs typeface="Times New Roman" pitchFamily="18" charset="0"/>
              </a:rPr>
              <a:t>’ -&gt;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b1 | c2</a:t>
            </a:r>
          </a:p>
          <a:p>
            <a:pPr fontAlgn="base"/>
            <a:r>
              <a:rPr lang="en-US" b="1" dirty="0">
                <a:latin typeface="Times New Roman" pitchFamily="18" charset="0"/>
                <a:cs typeface="Times New Roman" pitchFamily="18" charset="0"/>
                <a:hlinkClick r:id="rId2"/>
              </a:rPr>
              <a:t>FIRST(A)</a:t>
            </a:r>
            <a:r>
              <a:rPr lang="en-US" dirty="0">
                <a:latin typeface="Times New Roman" pitchFamily="18" charset="0"/>
                <a:cs typeface="Times New Roman" pitchFamily="18" charset="0"/>
              </a:rPr>
              <a:t> is a set of the terminal symbols which occur as first symbols in string derived from </a:t>
            </a:r>
            <a:r>
              <a:rPr lang="en-US" dirty="0" smtClean="0">
                <a:latin typeface="Times New Roman" pitchFamily="18" charset="0"/>
                <a:cs typeface="Times New Roman" pitchFamily="18" charset="0"/>
              </a:rPr>
              <a:t>A</a:t>
            </a:r>
          </a:p>
          <a:p>
            <a:pPr marL="0" indent="0" fontAlgn="base">
              <a:buNone/>
            </a:pPr>
            <a:endParaRPr lang="en-US" dirty="0">
              <a:latin typeface="Times New Roman" pitchFamily="18" charset="0"/>
              <a:cs typeface="Times New Roman" pitchFamily="18" charset="0"/>
            </a:endParaRPr>
          </a:p>
          <a:p>
            <a:pPr fontAlgn="base"/>
            <a:r>
              <a:rPr lang="en-US" b="1" dirty="0">
                <a:latin typeface="Times New Roman" pitchFamily="18" charset="0"/>
                <a:cs typeface="Times New Roman" pitchFamily="18" charset="0"/>
                <a:hlinkClick r:id="rId3"/>
              </a:rPr>
              <a:t>FOLLOW(A)</a:t>
            </a:r>
            <a:r>
              <a:rPr lang="en-US" dirty="0">
                <a:latin typeface="Times New Roman" pitchFamily="18" charset="0"/>
                <a:cs typeface="Times New Roman" pitchFamily="18" charset="0"/>
              </a:rPr>
              <a:t> is the set of terminals which occur immediately after the nonterminal A in the strings derived from the starting symbol</a:t>
            </a:r>
            <a:r>
              <a:rPr lang="en-US" dirty="0" smtClean="0">
                <a:latin typeface="Times New Roman" pitchFamily="18" charset="0"/>
                <a:cs typeface="Times New Roman" pitchFamily="18" charset="0"/>
              </a:rPr>
              <a:t>.</a:t>
            </a:r>
            <a:r>
              <a:rPr lang="en-US" dirty="0"/>
              <a:t/>
            </a:r>
            <a:br>
              <a:rPr lang="en-US" dirty="0"/>
            </a:br>
            <a:endParaRPr lang="en-IN" dirty="0"/>
          </a:p>
        </p:txBody>
      </p:sp>
      <p:sp>
        <p:nvSpPr>
          <p:cNvPr id="2" name="Title 1"/>
          <p:cNvSpPr>
            <a:spLocks noGrp="1"/>
          </p:cNvSpPr>
          <p:nvPr>
            <p:ph type="title"/>
          </p:nvPr>
        </p:nvSpPr>
        <p:spPr/>
        <p:txBody>
          <a:bodyPr/>
          <a:lstStyle/>
          <a:p>
            <a:r>
              <a:rPr lang="en-US" b="1" dirty="0" smtClean="0">
                <a:solidFill>
                  <a:schemeClr val="tx1"/>
                </a:solidFill>
              </a:rPr>
              <a:t>Left recursive and Left Factoring</a:t>
            </a:r>
            <a:endParaRPr lang="en-IN" b="1" dirty="0">
              <a:solidFill>
                <a:schemeClr val="tx1"/>
              </a:solidFill>
            </a:endParaRPr>
          </a:p>
        </p:txBody>
      </p:sp>
    </p:spTree>
    <p:extLst>
      <p:ext uri="{BB962C8B-B14F-4D97-AF65-F5344CB8AC3E}">
        <p14:creationId xmlns:p14="http://schemas.microsoft.com/office/powerpoint/2010/main" val="39104092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solidFill>
              </a:rPr>
              <a:t>Parser</a:t>
            </a:r>
            <a:endParaRPr lang="en-IN" b="1" dirty="0">
              <a:solidFill>
                <a:schemeClr val="tx1"/>
              </a:solidFill>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988840"/>
            <a:ext cx="8232902" cy="4065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56352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solidFill>
              </a:rPr>
              <a:t>LL(1)</a:t>
            </a:r>
            <a:endParaRPr lang="en-IN" b="1" dirty="0">
              <a:solidFill>
                <a:schemeClr val="tx1"/>
              </a:solidFill>
            </a:endParaRP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772816"/>
            <a:ext cx="8568952"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97118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solidFill>
              </a:rPr>
              <a:t>SLR Parser</a:t>
            </a:r>
            <a:endParaRPr lang="en-IN" b="1" dirty="0">
              <a:solidFill>
                <a:schemeClr val="tx1"/>
              </a:solidFill>
            </a:endParaRP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700808"/>
            <a:ext cx="8352928" cy="426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05244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2492896"/>
            <a:ext cx="7524824" cy="4065315"/>
          </a:xfrm>
        </p:spPr>
        <p:txBody>
          <a:bodyPr/>
          <a:lstStyle/>
          <a:p>
            <a:pPr marL="0" indent="0" algn="ctr">
              <a:buNone/>
            </a:pPr>
            <a:r>
              <a:rPr lang="en-IN" b="1" dirty="0">
                <a:latin typeface="Times New Roman" pitchFamily="18" charset="0"/>
                <a:cs typeface="Times New Roman" pitchFamily="18" charset="0"/>
              </a:rPr>
              <a:t>SYNTAX DIRECTED TRANSLATION &amp; INTERMEDIATE CODE GENERATION</a:t>
            </a:r>
            <a:endParaRPr lang="en-IN" dirty="0"/>
          </a:p>
        </p:txBody>
      </p:sp>
      <p:sp>
        <p:nvSpPr>
          <p:cNvPr id="3" name="Title 2"/>
          <p:cNvSpPr>
            <a:spLocks noGrp="1"/>
          </p:cNvSpPr>
          <p:nvPr>
            <p:ph type="title"/>
          </p:nvPr>
        </p:nvSpPr>
        <p:spPr/>
        <p:txBody>
          <a:bodyPr/>
          <a:lstStyle/>
          <a:p>
            <a:r>
              <a:rPr lang="en-US" b="1" dirty="0" smtClean="0">
                <a:solidFill>
                  <a:schemeClr val="tx1"/>
                </a:solidFill>
              </a:rPr>
              <a:t>Unit III</a:t>
            </a:r>
            <a:endParaRPr lang="en-IN" b="1" dirty="0">
              <a:solidFill>
                <a:schemeClr val="tx1"/>
              </a:solidFill>
            </a:endParaRPr>
          </a:p>
        </p:txBody>
      </p:sp>
    </p:spTree>
    <p:extLst>
      <p:ext uri="{BB962C8B-B14F-4D97-AF65-F5344CB8AC3E}">
        <p14:creationId xmlns:p14="http://schemas.microsoft.com/office/powerpoint/2010/main" val="19895810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a:solidFill>
                  <a:schemeClr val="tx1"/>
                </a:solidFill>
              </a:rPr>
              <a:t>Syntax directed Definitions-Construction of Syntax Tree</a:t>
            </a:r>
            <a:endParaRPr lang="en-IN" b="1" dirty="0">
              <a:solidFill>
                <a:schemeClr val="tx1"/>
              </a:solidFill>
            </a:endParaRP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6" y="2298757"/>
            <a:ext cx="6264696" cy="3378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85730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1628800"/>
            <a:ext cx="5184576" cy="449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99140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a:solidFill>
                  <a:schemeClr val="tx1"/>
                </a:solidFill>
              </a:rPr>
              <a:t>Syntax directed </a:t>
            </a:r>
            <a:r>
              <a:rPr lang="en-US" b="1" dirty="0" smtClean="0">
                <a:solidFill>
                  <a:schemeClr val="tx1"/>
                </a:solidFill>
              </a:rPr>
              <a:t>Definitions – </a:t>
            </a:r>
            <a:br>
              <a:rPr lang="en-US" b="1" dirty="0" smtClean="0">
                <a:solidFill>
                  <a:schemeClr val="tx1"/>
                </a:solidFill>
              </a:rPr>
            </a:br>
            <a:r>
              <a:rPr lang="en-US" b="1" dirty="0" smtClean="0">
                <a:solidFill>
                  <a:schemeClr val="tx1"/>
                </a:solidFill>
              </a:rPr>
              <a:t>Data type </a:t>
            </a:r>
            <a:endParaRPr lang="en-IN"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844824"/>
            <a:ext cx="6318702"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56232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694696"/>
            <a:ext cx="6171163" cy="437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55434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9" y="1628800"/>
            <a:ext cx="7596832" cy="4497363"/>
          </a:xfrm>
        </p:spPr>
        <p:txBody>
          <a:bodyPr>
            <a:normAutofit fontScale="92500" lnSpcReduction="20000"/>
          </a:bodyPr>
          <a:lstStyle/>
          <a:p>
            <a:pPr marL="0" indent="0" algn="ctr">
              <a:buNone/>
            </a:pPr>
            <a:endParaRPr lang="en-US" sz="4000" b="1" dirty="0" smtClean="0">
              <a:solidFill>
                <a:schemeClr val="tx1"/>
              </a:solidFill>
            </a:endParaRPr>
          </a:p>
          <a:p>
            <a:pPr marL="0" indent="0" algn="ctr">
              <a:buNone/>
            </a:pPr>
            <a:r>
              <a:rPr lang="en-US" sz="4000" b="1" dirty="0" smtClean="0">
                <a:solidFill>
                  <a:schemeClr val="tx1"/>
                </a:solidFill>
              </a:rPr>
              <a:t>a=b*(-c)+b*(-c) </a:t>
            </a:r>
          </a:p>
          <a:p>
            <a:pPr marL="0" indent="0">
              <a:buNone/>
            </a:pPr>
            <a:r>
              <a:rPr lang="en-US" sz="4000" b="1" dirty="0" smtClean="0">
                <a:solidFill>
                  <a:schemeClr val="tx1"/>
                </a:solidFill>
              </a:rPr>
              <a:t>three address code</a:t>
            </a:r>
          </a:p>
          <a:p>
            <a:pPr marL="0" indent="0">
              <a:buNone/>
            </a:pPr>
            <a:r>
              <a:rPr lang="en-US" sz="4000" b="1" dirty="0" smtClean="0">
                <a:solidFill>
                  <a:schemeClr val="tx1"/>
                </a:solidFill>
              </a:rPr>
              <a:t>	</a:t>
            </a:r>
            <a:r>
              <a:rPr lang="en-US" sz="3000" dirty="0" smtClean="0">
                <a:solidFill>
                  <a:schemeClr val="tx1"/>
                </a:solidFill>
                <a:latin typeface="Times New Roman" pitchFamily="18" charset="0"/>
                <a:cs typeface="Times New Roman" pitchFamily="18" charset="0"/>
              </a:rPr>
              <a:t>t1=</a:t>
            </a:r>
            <a:r>
              <a:rPr lang="en-US" sz="3000" dirty="0" err="1" smtClean="0">
                <a:solidFill>
                  <a:schemeClr val="tx1"/>
                </a:solidFill>
                <a:latin typeface="Times New Roman" pitchFamily="18" charset="0"/>
                <a:cs typeface="Times New Roman" pitchFamily="18" charset="0"/>
              </a:rPr>
              <a:t>uminus</a:t>
            </a:r>
            <a:r>
              <a:rPr lang="en-US" sz="3000" dirty="0" smtClean="0">
                <a:solidFill>
                  <a:schemeClr val="tx1"/>
                </a:solidFill>
                <a:latin typeface="Times New Roman" pitchFamily="18" charset="0"/>
                <a:cs typeface="Times New Roman" pitchFamily="18" charset="0"/>
              </a:rPr>
              <a:t>(c)</a:t>
            </a:r>
          </a:p>
          <a:p>
            <a:pPr marL="0" indent="0">
              <a:buNone/>
            </a:pPr>
            <a:r>
              <a:rPr lang="en-US" sz="3000" dirty="0" smtClean="0">
                <a:solidFill>
                  <a:schemeClr val="tx1"/>
                </a:solidFill>
                <a:latin typeface="Times New Roman" pitchFamily="18" charset="0"/>
                <a:cs typeface="Times New Roman" pitchFamily="18" charset="0"/>
              </a:rPr>
              <a:t>	t2=t1*b</a:t>
            </a:r>
          </a:p>
          <a:p>
            <a:pPr marL="0" indent="0">
              <a:buNone/>
            </a:pPr>
            <a:r>
              <a:rPr lang="en-US" sz="3000" dirty="0" smtClean="0">
                <a:solidFill>
                  <a:schemeClr val="tx1"/>
                </a:solidFill>
                <a:latin typeface="Times New Roman" pitchFamily="18" charset="0"/>
                <a:cs typeface="Times New Roman" pitchFamily="18" charset="0"/>
              </a:rPr>
              <a:t>	t3=</a:t>
            </a:r>
            <a:r>
              <a:rPr lang="en-US" sz="3000" dirty="0" err="1" smtClean="0">
                <a:solidFill>
                  <a:schemeClr val="tx1"/>
                </a:solidFill>
                <a:latin typeface="Times New Roman" pitchFamily="18" charset="0"/>
                <a:cs typeface="Times New Roman" pitchFamily="18" charset="0"/>
              </a:rPr>
              <a:t>uminus</a:t>
            </a:r>
            <a:r>
              <a:rPr lang="en-US" sz="3000" dirty="0" smtClean="0">
                <a:solidFill>
                  <a:schemeClr val="tx1"/>
                </a:solidFill>
                <a:latin typeface="Times New Roman" pitchFamily="18" charset="0"/>
                <a:cs typeface="Times New Roman" pitchFamily="18" charset="0"/>
              </a:rPr>
              <a:t>(c)</a:t>
            </a:r>
          </a:p>
          <a:p>
            <a:pPr marL="0" indent="0">
              <a:buNone/>
            </a:pPr>
            <a:r>
              <a:rPr lang="en-US" sz="3000" dirty="0" smtClean="0">
                <a:solidFill>
                  <a:schemeClr val="tx1"/>
                </a:solidFill>
                <a:latin typeface="Times New Roman" pitchFamily="18" charset="0"/>
                <a:cs typeface="Times New Roman" pitchFamily="18" charset="0"/>
              </a:rPr>
              <a:t>	t4=t3*b</a:t>
            </a:r>
          </a:p>
          <a:p>
            <a:pPr marL="0" indent="0">
              <a:buNone/>
            </a:pPr>
            <a:r>
              <a:rPr lang="en-US" sz="3000" dirty="0" smtClean="0">
                <a:solidFill>
                  <a:schemeClr val="tx1"/>
                </a:solidFill>
                <a:latin typeface="Times New Roman" pitchFamily="18" charset="0"/>
                <a:cs typeface="Times New Roman" pitchFamily="18" charset="0"/>
              </a:rPr>
              <a:t>	t5=t2+t4</a:t>
            </a:r>
          </a:p>
          <a:p>
            <a:pPr marL="0" indent="0">
              <a:buNone/>
            </a:pPr>
            <a:r>
              <a:rPr lang="en-US" sz="3000" dirty="0" smtClean="0">
                <a:solidFill>
                  <a:schemeClr val="tx1"/>
                </a:solidFill>
                <a:latin typeface="Times New Roman" pitchFamily="18" charset="0"/>
                <a:cs typeface="Times New Roman" pitchFamily="18" charset="0"/>
              </a:rPr>
              <a:t>	a=t5</a:t>
            </a:r>
          </a:p>
          <a:p>
            <a:pPr marL="0" indent="0" algn="ctr">
              <a:buNone/>
            </a:pPr>
            <a:endParaRPr lang="en-US" sz="4000" b="1" dirty="0" smtClean="0">
              <a:solidFill>
                <a:schemeClr val="tx1"/>
              </a:solidFill>
            </a:endParaRPr>
          </a:p>
          <a:p>
            <a:pPr marL="0" indent="0" algn="ctr">
              <a:buNone/>
            </a:pPr>
            <a:endParaRPr lang="en-IN" sz="4000" dirty="0"/>
          </a:p>
        </p:txBody>
      </p:sp>
      <p:sp>
        <p:nvSpPr>
          <p:cNvPr id="3" name="Title 2"/>
          <p:cNvSpPr>
            <a:spLocks noGrp="1"/>
          </p:cNvSpPr>
          <p:nvPr>
            <p:ph type="title"/>
          </p:nvPr>
        </p:nvSpPr>
        <p:spPr/>
        <p:txBody>
          <a:bodyPr>
            <a:normAutofit fontScale="90000"/>
          </a:bodyPr>
          <a:lstStyle/>
          <a:p>
            <a:r>
              <a:rPr lang="en-US" b="1" dirty="0">
                <a:solidFill>
                  <a:schemeClr val="tx1"/>
                </a:solidFill>
              </a:rPr>
              <a:t>Three address Code Representation</a:t>
            </a:r>
            <a:br>
              <a:rPr lang="en-US" b="1" dirty="0">
                <a:solidFill>
                  <a:schemeClr val="tx1"/>
                </a:solidFill>
              </a:rPr>
            </a:br>
            <a:endParaRPr lang="en-IN" dirty="0"/>
          </a:p>
        </p:txBody>
      </p:sp>
    </p:spTree>
    <p:extLst>
      <p:ext uri="{BB962C8B-B14F-4D97-AF65-F5344CB8AC3E}">
        <p14:creationId xmlns:p14="http://schemas.microsoft.com/office/powerpoint/2010/main" val="1437911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hlinkClick r:id="rId2"/>
              </a:rPr>
              <a:t>Three</a:t>
            </a:r>
            <a:r>
              <a:rPr lang="en-US" dirty="0">
                <a:latin typeface="Times New Roman" pitchFamily="18" charset="0"/>
                <a:cs typeface="Times New Roman" pitchFamily="18" charset="0"/>
                <a:hlinkClick r:id="rId2"/>
              </a:rPr>
              <a:t> address code</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 Quadruples (4 fields : operator, operand1, operand2, result)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2. Triplets (3 fields : operator, operand1, operand2)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3. Indirect </a:t>
            </a:r>
            <a:r>
              <a:rPr lang="en-US" dirty="0" smtClean="0">
                <a:latin typeface="Times New Roman" pitchFamily="18" charset="0"/>
                <a:cs typeface="Times New Roman" pitchFamily="18" charset="0"/>
              </a:rPr>
              <a:t>triples (2 </a:t>
            </a:r>
            <a:r>
              <a:rPr lang="en-US" dirty="0">
                <a:latin typeface="Times New Roman" pitchFamily="18" charset="0"/>
                <a:cs typeface="Times New Roman" pitchFamily="18" charset="0"/>
              </a:rPr>
              <a:t>fields : operator, </a:t>
            </a:r>
            <a:r>
              <a:rPr lang="en-US" dirty="0" smtClean="0">
                <a:latin typeface="Times New Roman" pitchFamily="18" charset="0"/>
                <a:cs typeface="Times New Roman" pitchFamily="18" charset="0"/>
              </a:rPr>
              <a:t>operand)</a:t>
            </a:r>
            <a:endParaRPr lang="en-IN" dirty="0">
              <a:latin typeface="Times New Roman" pitchFamily="18" charset="0"/>
              <a:cs typeface="Times New Roman" pitchFamily="18" charset="0"/>
            </a:endParaRPr>
          </a:p>
        </p:txBody>
      </p:sp>
      <p:sp>
        <p:nvSpPr>
          <p:cNvPr id="2" name="Title 1"/>
          <p:cNvSpPr>
            <a:spLocks noGrp="1"/>
          </p:cNvSpPr>
          <p:nvPr>
            <p:ph type="title"/>
          </p:nvPr>
        </p:nvSpPr>
        <p:spPr/>
        <p:txBody>
          <a:bodyPr/>
          <a:lstStyle/>
          <a:p>
            <a:endParaRPr lang="en-IN" dirty="0"/>
          </a:p>
        </p:txBody>
      </p:sp>
    </p:spTree>
    <p:extLst>
      <p:ext uri="{BB962C8B-B14F-4D97-AF65-F5344CB8AC3E}">
        <p14:creationId xmlns:p14="http://schemas.microsoft.com/office/powerpoint/2010/main" val="17505009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solidFill>
              </a:rPr>
              <a:t>Representation 1</a:t>
            </a:r>
            <a:endParaRPr lang="en-IN" b="1" dirty="0">
              <a:solidFill>
                <a:schemeClr val="tx1"/>
              </a:solidFill>
            </a:endParaRPr>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648" y="2024371"/>
            <a:ext cx="5112568" cy="3829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86801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solidFill>
                  <a:schemeClr val="tx1"/>
                </a:solidFill>
              </a:rPr>
              <a:t>Representation </a:t>
            </a:r>
            <a:r>
              <a:rPr lang="en-US" b="1" dirty="0" smtClean="0">
                <a:solidFill>
                  <a:schemeClr val="tx1"/>
                </a:solidFill>
              </a:rPr>
              <a:t>2</a:t>
            </a:r>
            <a:endParaRPr lang="en-IN" dirty="0"/>
          </a:p>
        </p:txBody>
      </p:sp>
      <p:sp>
        <p:nvSpPr>
          <p:cNvPr id="5" name="AutoShape 2" descr="Three address code in Compiler -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36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2204864"/>
            <a:ext cx="6234552"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49463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1" dirty="0">
                <a:solidFill>
                  <a:schemeClr val="tx1"/>
                </a:solidFill>
              </a:rPr>
              <a:t>Representation </a:t>
            </a:r>
            <a:r>
              <a:rPr lang="en-US" b="1" dirty="0" smtClean="0">
                <a:solidFill>
                  <a:schemeClr val="tx1"/>
                </a:solidFill>
              </a:rPr>
              <a:t>3</a:t>
            </a:r>
            <a:endParaRPr lang="en-IN" b="1" dirty="0">
              <a:solidFill>
                <a:schemeClr val="tx1"/>
              </a:solidFill>
            </a:endParaRPr>
          </a:p>
        </p:txBody>
      </p:sp>
      <p:pic>
        <p:nvPicPr>
          <p:cNvPr id="1229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2892" y="2204864"/>
            <a:ext cx="7347500" cy="4219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48368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9" y="1772816"/>
            <a:ext cx="7596832" cy="4353347"/>
          </a:xfrm>
        </p:spPr>
        <p:txBody>
          <a:bodyPr/>
          <a:lstStyle/>
          <a:p>
            <a:pPr marL="0" indent="0" algn="ctr">
              <a:buNone/>
            </a:pPr>
            <a:endParaRPr lang="en-IN" b="1" dirty="0" smtClean="0">
              <a:latin typeface="Times New Roman" pitchFamily="18" charset="0"/>
              <a:cs typeface="Times New Roman" pitchFamily="18" charset="0"/>
            </a:endParaRPr>
          </a:p>
          <a:p>
            <a:pPr marL="0" indent="0" algn="ctr">
              <a:buNone/>
            </a:pPr>
            <a:endParaRPr lang="en-IN" b="1" dirty="0">
              <a:latin typeface="Times New Roman" pitchFamily="18" charset="0"/>
              <a:cs typeface="Times New Roman" pitchFamily="18" charset="0"/>
            </a:endParaRPr>
          </a:p>
          <a:p>
            <a:pPr marL="0" indent="0" algn="ctr">
              <a:buNone/>
            </a:pPr>
            <a:endParaRPr lang="en-IN" b="1" dirty="0" smtClean="0">
              <a:latin typeface="Times New Roman" pitchFamily="18" charset="0"/>
              <a:cs typeface="Times New Roman" pitchFamily="18" charset="0"/>
            </a:endParaRPr>
          </a:p>
          <a:p>
            <a:pPr marL="0" indent="0" algn="ctr">
              <a:buNone/>
            </a:pPr>
            <a:r>
              <a:rPr lang="en-IN" b="1" dirty="0" smtClean="0">
                <a:latin typeface="Times New Roman" pitchFamily="18" charset="0"/>
                <a:cs typeface="Times New Roman" pitchFamily="18" charset="0"/>
              </a:rPr>
              <a:t>RUN-TIME </a:t>
            </a:r>
            <a:r>
              <a:rPr lang="en-IN" b="1" dirty="0">
                <a:latin typeface="Times New Roman" pitchFamily="18" charset="0"/>
                <a:cs typeface="Times New Roman" pitchFamily="18" charset="0"/>
              </a:rPr>
              <a:t>ENVIRONMENT AND CODE GENERATION</a:t>
            </a:r>
            <a:endParaRPr lang="en-IN" b="1" dirty="0"/>
          </a:p>
        </p:txBody>
      </p:sp>
      <p:sp>
        <p:nvSpPr>
          <p:cNvPr id="3" name="Title 2"/>
          <p:cNvSpPr>
            <a:spLocks noGrp="1"/>
          </p:cNvSpPr>
          <p:nvPr>
            <p:ph type="title"/>
          </p:nvPr>
        </p:nvSpPr>
        <p:spPr/>
        <p:txBody>
          <a:bodyPr/>
          <a:lstStyle/>
          <a:p>
            <a:r>
              <a:rPr lang="en-US" b="1" dirty="0" smtClean="0">
                <a:solidFill>
                  <a:schemeClr val="tx1"/>
                </a:solidFill>
              </a:rPr>
              <a:t>Unit IV</a:t>
            </a:r>
            <a:endParaRPr lang="en-IN" b="1" dirty="0">
              <a:solidFill>
                <a:schemeClr val="tx1"/>
              </a:solidFill>
            </a:endParaRPr>
          </a:p>
        </p:txBody>
      </p:sp>
    </p:spTree>
    <p:extLst>
      <p:ext uri="{BB962C8B-B14F-4D97-AF65-F5344CB8AC3E}">
        <p14:creationId xmlns:p14="http://schemas.microsoft.com/office/powerpoint/2010/main" val="40879596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4000" b="1" dirty="0">
                <a:solidFill>
                  <a:srgbClr val="073E87"/>
                </a:solidFill>
                <a:latin typeface="Times New Roman" pitchFamily="18" charset="0"/>
                <a:ea typeface="+mn-ea"/>
                <a:cs typeface="Times New Roman" pitchFamily="18" charset="0"/>
              </a:rPr>
              <a:t>Storage Allocation</a:t>
            </a:r>
            <a:endParaRPr lang="en-IN" sz="11500" b="1" dirty="0"/>
          </a:p>
        </p:txBody>
      </p:sp>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852181"/>
            <a:ext cx="7886722" cy="3809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27740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1484784"/>
            <a:ext cx="8064895" cy="4896544"/>
          </a:xfrm>
        </p:spPr>
        <p:txBody>
          <a:bodyPr>
            <a:normAutofit fontScale="85000" lnSpcReduction="20000"/>
          </a:bodyPr>
          <a:lstStyle/>
          <a:p>
            <a:r>
              <a:rPr lang="en-US" dirty="0">
                <a:latin typeface="Times New Roman" pitchFamily="18" charset="0"/>
                <a:cs typeface="Times New Roman" pitchFamily="18" charset="0"/>
              </a:rPr>
              <a:t>Basic Block is a set of statements that always executes one after other, in a sequence. </a:t>
            </a: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fontAlgn="base"/>
            <a:r>
              <a:rPr lang="en-US" b="1" dirty="0">
                <a:latin typeface="Times New Roman" pitchFamily="18" charset="0"/>
                <a:cs typeface="Times New Roman" pitchFamily="18" charset="0"/>
              </a:rPr>
              <a:t>Algorithm:</a:t>
            </a:r>
            <a:r>
              <a:rPr lang="en-US" dirty="0">
                <a:latin typeface="Times New Roman" pitchFamily="18" charset="0"/>
                <a:cs typeface="Times New Roman" pitchFamily="18" charset="0"/>
              </a:rPr>
              <a:t> Partitioning three-address code into basic blocks. </a:t>
            </a:r>
          </a:p>
          <a:p>
            <a:pPr fontAlgn="base"/>
            <a:r>
              <a:rPr lang="en-US" b="1" dirty="0">
                <a:latin typeface="Times New Roman" pitchFamily="18" charset="0"/>
                <a:cs typeface="Times New Roman" pitchFamily="18" charset="0"/>
              </a:rPr>
              <a:t>Input:</a:t>
            </a:r>
            <a:r>
              <a:rPr lang="en-US" dirty="0">
                <a:latin typeface="Times New Roman" pitchFamily="18" charset="0"/>
                <a:cs typeface="Times New Roman" pitchFamily="18" charset="0"/>
              </a:rPr>
              <a:t> A sequence of three address instructions.</a:t>
            </a:r>
          </a:p>
          <a:p>
            <a:pPr fontAlgn="base"/>
            <a:r>
              <a:rPr lang="en-US" b="1" dirty="0">
                <a:latin typeface="Times New Roman" pitchFamily="18" charset="0"/>
                <a:cs typeface="Times New Roman" pitchFamily="18" charset="0"/>
              </a:rPr>
              <a:t>Process:</a:t>
            </a:r>
            <a:r>
              <a:rPr lang="en-US" dirty="0">
                <a:latin typeface="Times New Roman" pitchFamily="18" charset="0"/>
                <a:cs typeface="Times New Roman" pitchFamily="18" charset="0"/>
              </a:rPr>
              <a:t> Instructions from intermediate code which are leaders are determined. </a:t>
            </a:r>
            <a:endParaRPr lang="en-US" dirty="0" smtClean="0">
              <a:latin typeface="Times New Roman" pitchFamily="18" charset="0"/>
              <a:cs typeface="Times New Roman" pitchFamily="18" charset="0"/>
            </a:endParaRPr>
          </a:p>
          <a:p>
            <a:pPr fontAlgn="base"/>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following are the rules used for finding a leader: </a:t>
            </a:r>
          </a:p>
          <a:p>
            <a:pPr marL="457200" indent="-457200" fontAlgn="base">
              <a:buFont typeface="+mj-lt"/>
              <a:buAutoNum type="arabicPeriod"/>
            </a:pPr>
            <a:r>
              <a:rPr lang="en-US" dirty="0" smtClean="0">
                <a:latin typeface="Times New Roman" pitchFamily="18" charset="0"/>
                <a:cs typeface="Times New Roman" pitchFamily="18" charset="0"/>
              </a:rPr>
              <a:t>	The </a:t>
            </a:r>
            <a:r>
              <a:rPr lang="en-US" dirty="0">
                <a:latin typeface="Times New Roman" pitchFamily="18" charset="0"/>
                <a:cs typeface="Times New Roman" pitchFamily="18" charset="0"/>
              </a:rPr>
              <a:t>first three-address instruction of the intermediate code is a leader. </a:t>
            </a:r>
          </a:p>
          <a:p>
            <a:pPr marL="457200" indent="-457200" fontAlgn="base">
              <a:buFont typeface="+mj-lt"/>
              <a:buAutoNum type="arabicPeriod"/>
            </a:pPr>
            <a:r>
              <a:rPr lang="en-US" dirty="0" smtClean="0">
                <a:latin typeface="Times New Roman" pitchFamily="18" charset="0"/>
                <a:cs typeface="Times New Roman" pitchFamily="18" charset="0"/>
              </a:rPr>
              <a:t>Instructions </a:t>
            </a:r>
            <a:r>
              <a:rPr lang="en-US" dirty="0">
                <a:latin typeface="Times New Roman" pitchFamily="18" charset="0"/>
                <a:cs typeface="Times New Roman" pitchFamily="18" charset="0"/>
              </a:rPr>
              <a:t>that are targets of unconditional or conditional jump/</a:t>
            </a:r>
            <a:r>
              <a:rPr lang="en-US" dirty="0" err="1">
                <a:latin typeface="Times New Roman" pitchFamily="18" charset="0"/>
                <a:cs typeface="Times New Roman" pitchFamily="18" charset="0"/>
              </a:rPr>
              <a:t>goto</a:t>
            </a:r>
            <a:r>
              <a:rPr lang="en-US" dirty="0">
                <a:latin typeface="Times New Roman" pitchFamily="18" charset="0"/>
                <a:cs typeface="Times New Roman" pitchFamily="18" charset="0"/>
              </a:rPr>
              <a:t> statements are leaders. </a:t>
            </a:r>
            <a:endParaRPr lang="en-US" dirty="0" smtClean="0">
              <a:latin typeface="Times New Roman" pitchFamily="18" charset="0"/>
              <a:cs typeface="Times New Roman" pitchFamily="18" charset="0"/>
            </a:endParaRPr>
          </a:p>
          <a:p>
            <a:pPr marL="457200" indent="-457200" fontAlgn="base">
              <a:buFont typeface="+mj-lt"/>
              <a:buAutoNum type="arabicPeriod"/>
            </a:pPr>
            <a:r>
              <a:rPr lang="en-US" dirty="0" smtClean="0">
                <a:latin typeface="Times New Roman" pitchFamily="18" charset="0"/>
                <a:cs typeface="Times New Roman" pitchFamily="18" charset="0"/>
              </a:rPr>
              <a:t>Instructions </a:t>
            </a:r>
            <a:r>
              <a:rPr lang="en-US" dirty="0">
                <a:latin typeface="Times New Roman" pitchFamily="18" charset="0"/>
                <a:cs typeface="Times New Roman" pitchFamily="18" charset="0"/>
              </a:rPr>
              <a:t>that immediately follow unconditional or conditional jump/</a:t>
            </a:r>
            <a:r>
              <a:rPr lang="en-US" dirty="0" err="1">
                <a:latin typeface="Times New Roman" pitchFamily="18" charset="0"/>
                <a:cs typeface="Times New Roman" pitchFamily="18" charset="0"/>
              </a:rPr>
              <a:t>goto</a:t>
            </a:r>
            <a:r>
              <a:rPr lang="en-US" dirty="0">
                <a:latin typeface="Times New Roman" pitchFamily="18" charset="0"/>
                <a:cs typeface="Times New Roman" pitchFamily="18" charset="0"/>
              </a:rPr>
              <a:t> statements are considered leaders. </a:t>
            </a:r>
            <a:endParaRPr lang="en-US" dirty="0" smtClean="0">
              <a:latin typeface="Times New Roman" pitchFamily="18" charset="0"/>
              <a:cs typeface="Times New Roman" pitchFamily="18" charset="0"/>
            </a:endParaRPr>
          </a:p>
          <a:p>
            <a:pPr marL="457200" indent="-457200" fontAlgn="base">
              <a:buFont typeface="+mj-lt"/>
              <a:buAutoNum type="arabicPeriod"/>
            </a:pPr>
            <a:r>
              <a:rPr lang="en-US" dirty="0" smtClean="0">
                <a:latin typeface="Times New Roman" pitchFamily="18" charset="0"/>
                <a:cs typeface="Times New Roman" pitchFamily="18" charset="0"/>
              </a:rPr>
              <a:t>Each </a:t>
            </a:r>
            <a:r>
              <a:rPr lang="en-US" dirty="0">
                <a:latin typeface="Times New Roman" pitchFamily="18" charset="0"/>
                <a:cs typeface="Times New Roman" pitchFamily="18" charset="0"/>
              </a:rPr>
              <a:t>leader thus determined its basic block contains itself and all instructions up to excluding the next leader. </a:t>
            </a:r>
          </a:p>
          <a:p>
            <a:endParaRPr lang="en-IN" dirty="0"/>
          </a:p>
        </p:txBody>
      </p:sp>
      <p:sp>
        <p:nvSpPr>
          <p:cNvPr id="3" name="Title 2"/>
          <p:cNvSpPr>
            <a:spLocks noGrp="1"/>
          </p:cNvSpPr>
          <p:nvPr>
            <p:ph type="title"/>
          </p:nvPr>
        </p:nvSpPr>
        <p:spPr/>
        <p:txBody>
          <a:bodyPr/>
          <a:lstStyle/>
          <a:p>
            <a:r>
              <a:rPr lang="en-US" b="1" dirty="0" smtClean="0">
                <a:solidFill>
                  <a:schemeClr val="tx1"/>
                </a:solidFill>
              </a:rPr>
              <a:t>Basic Block</a:t>
            </a:r>
            <a:endParaRPr lang="en-IN" b="1" dirty="0">
              <a:solidFill>
                <a:schemeClr val="tx1"/>
              </a:solidFill>
            </a:endParaRPr>
          </a:p>
        </p:txBody>
      </p:sp>
    </p:spTree>
    <p:extLst>
      <p:ext uri="{BB962C8B-B14F-4D97-AF65-F5344CB8AC3E}">
        <p14:creationId xmlns:p14="http://schemas.microsoft.com/office/powerpoint/2010/main" val="35725885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6" y="1587459"/>
            <a:ext cx="5328592" cy="4834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52195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lumMod val="95000"/>
                    <a:lumOff val="5000"/>
                  </a:schemeClr>
                </a:solidFill>
              </a:rPr>
              <a:t>Flow Graph</a:t>
            </a:r>
            <a:endParaRPr lang="en-IN" b="1" dirty="0">
              <a:solidFill>
                <a:schemeClr val="tx1">
                  <a:lumMod val="95000"/>
                  <a:lumOff val="5000"/>
                </a:schemeClr>
              </a:solidFill>
            </a:endParaRP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1723687"/>
            <a:ext cx="6552728" cy="4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01677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smtClean="0">
                <a:solidFill>
                  <a:schemeClr val="tx1"/>
                </a:solidFill>
                <a:latin typeface="Times New Roman" pitchFamily="18" charset="0"/>
                <a:cs typeface="Times New Roman" pitchFamily="18" charset="0"/>
              </a:rPr>
              <a:t>Design of Simple code Generation</a:t>
            </a:r>
            <a:endParaRPr lang="en-IN" b="1" dirty="0">
              <a:solidFill>
                <a:schemeClr val="tx1"/>
              </a:solidFill>
              <a:latin typeface="Times New Roman" pitchFamily="18" charset="0"/>
              <a:cs typeface="Times New Roman" pitchFamily="18" charset="0"/>
            </a:endParaRPr>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1961" y="1844824"/>
            <a:ext cx="7182408" cy="4738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90530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9" y="1772816"/>
            <a:ext cx="7596832" cy="4353347"/>
          </a:xfrm>
        </p:spPr>
        <p:txBody>
          <a:bodyPr/>
          <a:lstStyle/>
          <a:p>
            <a:pPr marL="0" indent="0" algn="ctr">
              <a:buNone/>
            </a:pPr>
            <a:endParaRPr lang="en-IN" b="1" dirty="0" smtClean="0">
              <a:latin typeface="Times New Roman" pitchFamily="18" charset="0"/>
              <a:cs typeface="Times New Roman" pitchFamily="18" charset="0"/>
            </a:endParaRPr>
          </a:p>
          <a:p>
            <a:pPr marL="0" indent="0" algn="ctr">
              <a:buNone/>
            </a:pPr>
            <a:endParaRPr lang="en-IN" b="1" dirty="0">
              <a:latin typeface="Times New Roman" pitchFamily="18" charset="0"/>
              <a:cs typeface="Times New Roman" pitchFamily="18" charset="0"/>
            </a:endParaRPr>
          </a:p>
          <a:p>
            <a:pPr marL="0" indent="0" algn="ctr">
              <a:buNone/>
            </a:pPr>
            <a:endParaRPr lang="en-IN" b="1" dirty="0" smtClean="0">
              <a:latin typeface="Times New Roman" pitchFamily="18" charset="0"/>
              <a:cs typeface="Times New Roman" pitchFamily="18" charset="0"/>
            </a:endParaRPr>
          </a:p>
          <a:p>
            <a:pPr marL="0" indent="0" algn="ctr">
              <a:buNone/>
            </a:pPr>
            <a:r>
              <a:rPr lang="en-IN" b="1" dirty="0">
                <a:latin typeface="Times New Roman" pitchFamily="18" charset="0"/>
                <a:cs typeface="Times New Roman" pitchFamily="18" charset="0"/>
              </a:rPr>
              <a:t>CODE OPTIMIZATION</a:t>
            </a:r>
            <a:endParaRPr lang="en-IN" b="1" dirty="0"/>
          </a:p>
        </p:txBody>
      </p:sp>
      <p:sp>
        <p:nvSpPr>
          <p:cNvPr id="3" name="Title 2"/>
          <p:cNvSpPr>
            <a:spLocks noGrp="1"/>
          </p:cNvSpPr>
          <p:nvPr>
            <p:ph type="title"/>
          </p:nvPr>
        </p:nvSpPr>
        <p:spPr/>
        <p:txBody>
          <a:bodyPr/>
          <a:lstStyle/>
          <a:p>
            <a:r>
              <a:rPr lang="en-US" b="1" dirty="0" smtClean="0">
                <a:solidFill>
                  <a:schemeClr val="tx1"/>
                </a:solidFill>
              </a:rPr>
              <a:t>Unit V</a:t>
            </a:r>
            <a:endParaRPr lang="en-IN" b="1" dirty="0">
              <a:solidFill>
                <a:schemeClr val="tx1"/>
              </a:solidFill>
            </a:endParaRPr>
          </a:p>
        </p:txBody>
      </p:sp>
    </p:spTree>
    <p:extLst>
      <p:ext uri="{BB962C8B-B14F-4D97-AF65-F5344CB8AC3E}">
        <p14:creationId xmlns:p14="http://schemas.microsoft.com/office/powerpoint/2010/main" val="15505190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844824"/>
            <a:ext cx="8208911" cy="4320480"/>
          </a:xfrm>
        </p:spPr>
        <p:txBody>
          <a:bodyPr>
            <a:normAutofit fontScale="85000" lnSpcReduction="20000"/>
          </a:bodyPr>
          <a:lstStyle/>
          <a:p>
            <a:pPr marL="0" indent="0" fontAlgn="base">
              <a:buNone/>
            </a:pPr>
            <a:r>
              <a:rPr lang="en-US" b="1" dirty="0" smtClean="0">
                <a:hlinkClick r:id="rId2"/>
              </a:rPr>
              <a:t>Code </a:t>
            </a:r>
            <a:r>
              <a:rPr lang="en-US" b="1" dirty="0">
                <a:hlinkClick r:id="rId2"/>
              </a:rPr>
              <a:t>Optimization </a:t>
            </a:r>
            <a:r>
              <a:rPr lang="en-US" dirty="0"/>
              <a:t>:</a:t>
            </a:r>
          </a:p>
          <a:p>
            <a:pPr fontAlgn="base"/>
            <a:r>
              <a:rPr lang="en-US" dirty="0"/>
              <a:t>Types of machine independent optimizations </a:t>
            </a:r>
            <a:endParaRPr lang="en-US" dirty="0" smtClean="0"/>
          </a:p>
          <a:p>
            <a:pPr marL="0" indent="0" fontAlgn="base">
              <a:buNone/>
            </a:pPr>
            <a:r>
              <a:rPr lang="en-US" dirty="0"/>
              <a:t/>
            </a:r>
            <a:br>
              <a:rPr lang="en-US" dirty="0"/>
            </a:br>
            <a:r>
              <a:rPr lang="en-US" dirty="0"/>
              <a:t>1. </a:t>
            </a:r>
            <a:r>
              <a:rPr lang="en-US" b="1" dirty="0"/>
              <a:t>Loop optimizations</a:t>
            </a:r>
            <a:r>
              <a:rPr lang="en-US" dirty="0"/>
              <a:t> :</a:t>
            </a:r>
          </a:p>
          <a:p>
            <a:pPr fontAlgn="base"/>
            <a:r>
              <a:rPr lang="en-US" dirty="0"/>
              <a:t>Code motion : reduce the evaluation frequency of expression.</a:t>
            </a:r>
          </a:p>
          <a:p>
            <a:pPr fontAlgn="base"/>
            <a:r>
              <a:rPr lang="en-US" dirty="0"/>
              <a:t>Loop unrolling : to execute less number of iterations</a:t>
            </a:r>
          </a:p>
          <a:p>
            <a:pPr fontAlgn="base"/>
            <a:r>
              <a:rPr lang="en-US" dirty="0"/>
              <a:t>Loop jamming : combine body of two loops whenever they are sharing same index.</a:t>
            </a:r>
          </a:p>
          <a:p>
            <a:pPr marL="0" indent="0" fontAlgn="base">
              <a:buNone/>
            </a:pPr>
            <a:r>
              <a:rPr lang="en-US" dirty="0"/>
              <a:t>2. </a:t>
            </a:r>
            <a:r>
              <a:rPr lang="en-US" b="1" dirty="0"/>
              <a:t>Constant folding</a:t>
            </a:r>
            <a:r>
              <a:rPr lang="en-US" dirty="0"/>
              <a:t> : replacing the value of constants during </a:t>
            </a:r>
            <a:r>
              <a:rPr lang="en-US" dirty="0" smtClean="0"/>
              <a:t>compilation</a:t>
            </a:r>
          </a:p>
          <a:p>
            <a:pPr marL="0" indent="0" fontAlgn="base">
              <a:buNone/>
            </a:pPr>
            <a:r>
              <a:rPr lang="en-US" dirty="0"/>
              <a:t/>
            </a:r>
            <a:br>
              <a:rPr lang="en-US" dirty="0"/>
            </a:br>
            <a:r>
              <a:rPr lang="en-US" dirty="0"/>
              <a:t>3. </a:t>
            </a:r>
            <a:r>
              <a:rPr lang="en-US" b="1" dirty="0"/>
              <a:t>Constant propagation</a:t>
            </a:r>
            <a:r>
              <a:rPr lang="en-US" dirty="0"/>
              <a:t> : replacing the value of an expression during compile time</a:t>
            </a:r>
            <a:r>
              <a:rPr lang="en-US" dirty="0" smtClean="0"/>
              <a:t>.</a:t>
            </a:r>
          </a:p>
          <a:p>
            <a:pPr marL="0" indent="0" fontAlgn="base">
              <a:buNone/>
            </a:pPr>
            <a:r>
              <a:rPr lang="en-US" dirty="0"/>
              <a:t/>
            </a:r>
            <a:br>
              <a:rPr lang="en-US" dirty="0"/>
            </a:br>
            <a:r>
              <a:rPr lang="en-US" dirty="0"/>
              <a:t>4. </a:t>
            </a:r>
            <a:r>
              <a:rPr lang="en-US" b="1" dirty="0"/>
              <a:t>Strength reduction</a:t>
            </a:r>
            <a:r>
              <a:rPr lang="en-US" dirty="0"/>
              <a:t> : replacing costly operators by simple operators.</a:t>
            </a:r>
          </a:p>
          <a:p>
            <a:endParaRPr lang="en-IN" dirty="0"/>
          </a:p>
        </p:txBody>
      </p:sp>
      <p:sp>
        <p:nvSpPr>
          <p:cNvPr id="2" name="Title 1"/>
          <p:cNvSpPr>
            <a:spLocks noGrp="1"/>
          </p:cNvSpPr>
          <p:nvPr>
            <p:ph type="title"/>
          </p:nvPr>
        </p:nvSpPr>
        <p:spPr/>
        <p:txBody>
          <a:bodyPr/>
          <a:lstStyle/>
          <a:p>
            <a:endParaRPr lang="en-IN" dirty="0"/>
          </a:p>
        </p:txBody>
      </p:sp>
    </p:spTree>
    <p:extLst>
      <p:ext uri="{BB962C8B-B14F-4D97-AF65-F5344CB8AC3E}">
        <p14:creationId xmlns:p14="http://schemas.microsoft.com/office/powerpoint/2010/main" val="39152263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700808"/>
            <a:ext cx="8064895" cy="4536504"/>
          </a:xfrm>
        </p:spPr>
        <p:txBody>
          <a:bodyPr>
            <a:normAutofit fontScale="92500"/>
          </a:bodyPr>
          <a:lstStyle/>
          <a:p>
            <a:pPr algn="just" fontAlgn="base"/>
            <a:r>
              <a:rPr lang="en-US" dirty="0">
                <a:latin typeface="Times New Roman" pitchFamily="18" charset="0"/>
                <a:cs typeface="Times New Roman" pitchFamily="18" charset="0"/>
              </a:rPr>
              <a:t>The code optimization in the synthesis phase is a program transformation technique, which tries to improve the intermediate code by making it consume fewer resources (i.e. CPU, Memory) so that faster-running machine code will result. Compiler optimizing process should meet the following objectives :</a:t>
            </a:r>
          </a:p>
          <a:p>
            <a:pPr algn="just" fontAlgn="base">
              <a:buFont typeface="Wingdings" pitchFamily="2" charset="2"/>
              <a:buChar char="§"/>
            </a:pPr>
            <a:r>
              <a:rPr lang="en-US" dirty="0">
                <a:latin typeface="Times New Roman" pitchFamily="18" charset="0"/>
                <a:cs typeface="Times New Roman" pitchFamily="18" charset="0"/>
              </a:rPr>
              <a:t>The optimization must be correct, it must not, in any way, change the meaning of the program.</a:t>
            </a:r>
          </a:p>
          <a:p>
            <a:pPr algn="just" fontAlgn="base">
              <a:buFont typeface="Wingdings" pitchFamily="2" charset="2"/>
              <a:buChar char="§"/>
            </a:pPr>
            <a:r>
              <a:rPr lang="en-US" dirty="0">
                <a:latin typeface="Times New Roman" pitchFamily="18" charset="0"/>
                <a:cs typeface="Times New Roman" pitchFamily="18" charset="0"/>
              </a:rPr>
              <a:t>Optimization should increase the speed and performance of the program.</a:t>
            </a:r>
          </a:p>
          <a:p>
            <a:pPr algn="just" fontAlgn="base">
              <a:buFont typeface="Wingdings" pitchFamily="2" charset="2"/>
              <a:buChar char="§"/>
            </a:pPr>
            <a:r>
              <a:rPr lang="en-US" dirty="0">
                <a:latin typeface="Times New Roman" pitchFamily="18" charset="0"/>
                <a:cs typeface="Times New Roman" pitchFamily="18" charset="0"/>
              </a:rPr>
              <a:t>The compilation time must be kept reasonable.</a:t>
            </a:r>
          </a:p>
          <a:p>
            <a:pPr algn="just" fontAlgn="base">
              <a:buFont typeface="Wingdings" pitchFamily="2" charset="2"/>
              <a:buChar char="§"/>
            </a:pPr>
            <a:r>
              <a:rPr lang="en-US" dirty="0">
                <a:latin typeface="Times New Roman" pitchFamily="18" charset="0"/>
                <a:cs typeface="Times New Roman" pitchFamily="18" charset="0"/>
              </a:rPr>
              <a:t>The optimization process should not delay the overall compiling process.</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Code Optimization</a:t>
            </a:r>
            <a:r>
              <a:rPr lang="en-IN" b="1" dirty="0"/>
              <a:t> </a:t>
            </a:r>
            <a:br>
              <a:rPr lang="en-IN" b="1" dirty="0"/>
            </a:br>
            <a:endParaRPr lang="en-IN" dirty="0"/>
          </a:p>
        </p:txBody>
      </p:sp>
    </p:spTree>
    <p:extLst>
      <p:ext uri="{BB962C8B-B14F-4D97-AF65-F5344CB8AC3E}">
        <p14:creationId xmlns:p14="http://schemas.microsoft.com/office/powerpoint/2010/main" val="28039692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772816"/>
            <a:ext cx="7812857" cy="4353347"/>
          </a:xfrm>
        </p:spPr>
        <p:txBody>
          <a:bodyPr/>
          <a:lstStyle/>
          <a:p>
            <a:pPr marL="0" indent="0" algn="just">
              <a:buNone/>
            </a:pPr>
            <a:r>
              <a:rPr lang="en-US" dirty="0">
                <a:latin typeface="Times New Roman" pitchFamily="18" charset="0"/>
                <a:cs typeface="Times New Roman" pitchFamily="18" charset="0"/>
              </a:rPr>
              <a:t>Optimization of the code is often performed at the end of the development stage since it reduces readability and adds code that is used to increase the performance</a:t>
            </a:r>
            <a:r>
              <a:rPr lang="en-US" dirty="0"/>
              <a:t>. </a:t>
            </a:r>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When to Optimize?</a:t>
            </a:r>
            <a:r>
              <a:rPr lang="en-IN" b="1" dirty="0"/>
              <a:t> </a:t>
            </a:r>
            <a:br>
              <a:rPr lang="en-IN" b="1" dirty="0"/>
            </a:br>
            <a:endParaRPr lang="en-IN" dirty="0"/>
          </a:p>
        </p:txBody>
      </p:sp>
    </p:spTree>
    <p:extLst>
      <p:ext uri="{BB962C8B-B14F-4D97-AF65-F5344CB8AC3E}">
        <p14:creationId xmlns:p14="http://schemas.microsoft.com/office/powerpoint/2010/main" val="18065051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772816"/>
            <a:ext cx="8064895" cy="4536504"/>
          </a:xfrm>
        </p:spPr>
        <p:txBody>
          <a:bodyPr>
            <a:normAutofit/>
          </a:bodyPr>
          <a:lstStyle/>
          <a:p>
            <a:pPr algn="just" fontAlgn="base"/>
            <a:r>
              <a:rPr lang="en-US" dirty="0">
                <a:latin typeface="Times New Roman" pitchFamily="18" charset="0"/>
                <a:cs typeface="Times New Roman" pitchFamily="18" charset="0"/>
              </a:rPr>
              <a:t>Optimizing an algorithm is beyond the scope of the code optimization phase. So the program is optimized. And it may involve reducing the size of the code. So optimization helps to:</a:t>
            </a:r>
          </a:p>
          <a:p>
            <a:pPr algn="just" fontAlgn="base">
              <a:buFont typeface="Wingdings" pitchFamily="2" charset="2"/>
              <a:buChar char="§"/>
            </a:pPr>
            <a:r>
              <a:rPr lang="en-US" dirty="0">
                <a:latin typeface="Times New Roman" pitchFamily="18" charset="0"/>
                <a:cs typeface="Times New Roman" pitchFamily="18" charset="0"/>
              </a:rPr>
              <a:t>Reduce the space consumed and increases the speed of compilation.</a:t>
            </a:r>
          </a:p>
          <a:p>
            <a:pPr algn="just" fontAlgn="base">
              <a:buFont typeface="Wingdings" pitchFamily="2" charset="2"/>
              <a:buChar char="§"/>
            </a:pPr>
            <a:r>
              <a:rPr lang="en-US" dirty="0">
                <a:latin typeface="Times New Roman" pitchFamily="18" charset="0"/>
                <a:cs typeface="Times New Roman" pitchFamily="18" charset="0"/>
              </a:rPr>
              <a:t>Manually analyzing datasets involves a lot of time. Hence we make use of software like Tableau for data analysis. Similarly manually performing the optimization is also tedious and is better done using a code optimizer.</a:t>
            </a:r>
          </a:p>
          <a:p>
            <a:pPr fontAlgn="base">
              <a:buFont typeface="Wingdings" pitchFamily="2" charset="2"/>
              <a:buChar char="§"/>
            </a:pPr>
            <a:r>
              <a:rPr lang="en-US" dirty="0">
                <a:latin typeface="Times New Roman" pitchFamily="18" charset="0"/>
                <a:cs typeface="Times New Roman" pitchFamily="18" charset="0"/>
              </a:rPr>
              <a:t>An optimized code often promotes re-usability.</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Why Optimize?</a:t>
            </a:r>
            <a:r>
              <a:rPr lang="en-IN" b="1" dirty="0"/>
              <a:t> </a:t>
            </a:r>
            <a:br>
              <a:rPr lang="en-IN" b="1" dirty="0"/>
            </a:br>
            <a:endParaRPr lang="en-IN" dirty="0"/>
          </a:p>
        </p:txBody>
      </p:sp>
    </p:spTree>
    <p:extLst>
      <p:ext uri="{BB962C8B-B14F-4D97-AF65-F5344CB8AC3E}">
        <p14:creationId xmlns:p14="http://schemas.microsoft.com/office/powerpoint/2010/main" val="11197454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700808"/>
            <a:ext cx="8352927" cy="4824536"/>
          </a:xfrm>
        </p:spPr>
        <p:txBody>
          <a:bodyPr>
            <a:normAutofit/>
          </a:bodyPr>
          <a:lstStyle/>
          <a:p>
            <a:pPr algn="just" fontAlgn="base"/>
            <a:r>
              <a:rPr lang="en-US" b="1" dirty="0">
                <a:latin typeface="Times New Roman" pitchFamily="18" charset="0"/>
                <a:cs typeface="Times New Roman" pitchFamily="18" charset="0"/>
              </a:rPr>
              <a:t>Machine Independent Optimization:</a:t>
            </a:r>
            <a:r>
              <a:rPr lang="en-US" dirty="0">
                <a:latin typeface="Times New Roman" pitchFamily="18" charset="0"/>
                <a:cs typeface="Times New Roman" pitchFamily="18" charset="0"/>
              </a:rPr>
              <a:t> This code optimization phase attempts to improve the </a:t>
            </a:r>
            <a:r>
              <a:rPr lang="en-US" b="1" dirty="0">
                <a:latin typeface="Times New Roman" pitchFamily="18" charset="0"/>
                <a:cs typeface="Times New Roman" pitchFamily="18" charset="0"/>
              </a:rPr>
              <a:t>intermediate code</a:t>
            </a:r>
            <a:r>
              <a:rPr lang="en-US" dirty="0">
                <a:latin typeface="Times New Roman" pitchFamily="18" charset="0"/>
                <a:cs typeface="Times New Roman" pitchFamily="18" charset="0"/>
              </a:rPr>
              <a:t> to get a better target code as the output. The part of the intermediate code which is transformed here does not involve any CPU registers or absolute memory locations.</a:t>
            </a:r>
          </a:p>
          <a:p>
            <a:pPr algn="just" fontAlgn="base"/>
            <a:r>
              <a:rPr lang="en-US" b="1" dirty="0">
                <a:latin typeface="Times New Roman" pitchFamily="18" charset="0"/>
                <a:cs typeface="Times New Roman" pitchFamily="18" charset="0"/>
              </a:rPr>
              <a:t>Machine Dependent Optimization:</a:t>
            </a:r>
            <a:r>
              <a:rPr lang="en-US" dirty="0">
                <a:latin typeface="Times New Roman" pitchFamily="18" charset="0"/>
                <a:cs typeface="Times New Roman" pitchFamily="18" charset="0"/>
              </a:rPr>
              <a:t> Machine-dependent optimization is done after the </a:t>
            </a:r>
            <a:r>
              <a:rPr lang="en-US" b="1" dirty="0">
                <a:latin typeface="Times New Roman" pitchFamily="18" charset="0"/>
                <a:cs typeface="Times New Roman" pitchFamily="18" charset="0"/>
              </a:rPr>
              <a:t>target code</a:t>
            </a:r>
            <a:r>
              <a:rPr lang="en-US" dirty="0">
                <a:latin typeface="Times New Roman" pitchFamily="18" charset="0"/>
                <a:cs typeface="Times New Roman" pitchFamily="18" charset="0"/>
              </a:rPr>
              <a:t> has been generated and when the code is transformed according to the target machine architecture. It involves CPU registers and may have absolute memory references rather than relative references. Machine-dependent optimizers put efforts to take maximum </a:t>
            </a:r>
            <a:r>
              <a:rPr lang="en-US" b="1" dirty="0">
                <a:latin typeface="Times New Roman" pitchFamily="18" charset="0"/>
                <a:cs typeface="Times New Roman" pitchFamily="18" charset="0"/>
              </a:rPr>
              <a:t>advantage</a:t>
            </a:r>
            <a:r>
              <a:rPr lang="en-US" dirty="0">
                <a:latin typeface="Times New Roman" pitchFamily="18" charset="0"/>
                <a:cs typeface="Times New Roman" pitchFamily="18" charset="0"/>
              </a:rPr>
              <a:t> of the memory hierarchy.</a:t>
            </a:r>
          </a:p>
          <a:p>
            <a:endParaRPr lang="en-IN" dirty="0"/>
          </a:p>
        </p:txBody>
      </p:sp>
      <p:sp>
        <p:nvSpPr>
          <p:cNvPr id="2" name="Title 1"/>
          <p:cNvSpPr>
            <a:spLocks noGrp="1"/>
          </p:cNvSpPr>
          <p:nvPr>
            <p:ph type="title"/>
          </p:nvPr>
        </p:nvSpPr>
        <p:spPr/>
        <p:txBody>
          <a:bodyPr>
            <a:normAutofit/>
          </a:bodyPr>
          <a:lstStyle/>
          <a:p>
            <a:r>
              <a:rPr lang="en-IN" b="1" dirty="0">
                <a:solidFill>
                  <a:schemeClr val="tx1"/>
                </a:solidFill>
              </a:rPr>
              <a:t>Types of Code </a:t>
            </a:r>
            <a:r>
              <a:rPr lang="en-IN" b="1" dirty="0" smtClean="0">
                <a:solidFill>
                  <a:schemeClr val="tx1"/>
                </a:solidFill>
              </a:rPr>
              <a:t>Optimization</a:t>
            </a:r>
            <a:endParaRPr lang="en-IN" dirty="0"/>
          </a:p>
        </p:txBody>
      </p:sp>
    </p:spTree>
    <p:extLst>
      <p:ext uri="{BB962C8B-B14F-4D97-AF65-F5344CB8AC3E}">
        <p14:creationId xmlns:p14="http://schemas.microsoft.com/office/powerpoint/2010/main" val="218107590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848872" cy="4032448"/>
          </a:xfrm>
        </p:spPr>
        <p:txBody>
          <a:bodyPr/>
          <a:lstStyle/>
          <a:p>
            <a:pPr marL="0" indent="0" fontAlgn="base">
              <a:buNone/>
            </a:pPr>
            <a:r>
              <a:rPr lang="en-IN" b="1" dirty="0"/>
              <a:t> </a:t>
            </a:r>
            <a:r>
              <a:rPr lang="en-US" dirty="0"/>
              <a:t>(i)   A = 2*(22.0/7.0)*r </a:t>
            </a:r>
          </a:p>
          <a:p>
            <a:pPr marL="0" indent="0" fontAlgn="base">
              <a:buNone/>
            </a:pPr>
            <a:r>
              <a:rPr lang="en-US" dirty="0"/>
              <a:t>	</a:t>
            </a:r>
            <a:r>
              <a:rPr lang="en-US" dirty="0" smtClean="0"/>
              <a:t>Perform </a:t>
            </a:r>
            <a:r>
              <a:rPr lang="en-US" dirty="0"/>
              <a:t>2*(22.0/7.0)*r at compile time.</a:t>
            </a:r>
          </a:p>
          <a:p>
            <a:pPr marL="0" indent="0" fontAlgn="base">
              <a:buNone/>
            </a:pPr>
            <a:r>
              <a:rPr lang="en-US" dirty="0"/>
              <a:t>(ii)  x = 12.4</a:t>
            </a:r>
          </a:p>
          <a:p>
            <a:pPr marL="0" indent="0" fontAlgn="base">
              <a:buNone/>
            </a:pPr>
            <a:r>
              <a:rPr lang="en-US" dirty="0"/>
              <a:t>	 y = x/2.3 </a:t>
            </a:r>
          </a:p>
          <a:p>
            <a:pPr marL="0" indent="0" fontAlgn="base">
              <a:buNone/>
            </a:pPr>
            <a:r>
              <a:rPr lang="en-US" dirty="0"/>
              <a:t>	 Evaluate x/2.3 as 12.4/2.3 at compile time.</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 </a:t>
            </a:r>
            <a:r>
              <a:rPr lang="en-IN" b="1" dirty="0" smtClean="0">
                <a:solidFill>
                  <a:schemeClr val="tx1"/>
                </a:solidFill>
              </a:rPr>
              <a:t>1. Compile </a:t>
            </a:r>
            <a:r>
              <a:rPr lang="en-IN" b="1" dirty="0">
                <a:solidFill>
                  <a:schemeClr val="tx1"/>
                </a:solidFill>
              </a:rPr>
              <a:t>Time </a:t>
            </a:r>
            <a:r>
              <a:rPr lang="en-IN" b="1" dirty="0" smtClean="0">
                <a:solidFill>
                  <a:schemeClr val="tx1"/>
                </a:solidFill>
              </a:rPr>
              <a:t>Evaluation</a:t>
            </a:r>
            <a:r>
              <a:rPr lang="en-IN" b="1" dirty="0"/>
              <a:t/>
            </a:r>
            <a:br>
              <a:rPr lang="en-IN" b="1" dirty="0"/>
            </a:br>
            <a:endParaRPr lang="en-IN" dirty="0"/>
          </a:p>
        </p:txBody>
      </p:sp>
    </p:spTree>
    <p:extLst>
      <p:ext uri="{BB962C8B-B14F-4D97-AF65-F5344CB8AC3E}">
        <p14:creationId xmlns:p14="http://schemas.microsoft.com/office/powerpoint/2010/main" val="158623459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9" y="2132856"/>
            <a:ext cx="7596832" cy="3993307"/>
          </a:xfrm>
        </p:spPr>
        <p:txBody>
          <a:bodyPr>
            <a:normAutofit fontScale="85000" lnSpcReduction="20000"/>
          </a:bodyPr>
          <a:lstStyle/>
          <a:p>
            <a:pPr marL="0" indent="0" fontAlgn="base">
              <a:buNone/>
            </a:pPr>
            <a:r>
              <a:rPr lang="en-US" dirty="0"/>
              <a:t>//Before Optimization </a:t>
            </a:r>
          </a:p>
          <a:p>
            <a:pPr marL="0" indent="0" fontAlgn="base">
              <a:buNone/>
            </a:pPr>
            <a:r>
              <a:rPr lang="en-US" dirty="0"/>
              <a:t>c = a * b                                               </a:t>
            </a:r>
          </a:p>
          <a:p>
            <a:pPr marL="0" indent="0" fontAlgn="base">
              <a:buNone/>
            </a:pPr>
            <a:r>
              <a:rPr lang="en-US" dirty="0"/>
              <a:t>x = a                                                  </a:t>
            </a:r>
          </a:p>
          <a:p>
            <a:pPr marL="0" indent="0" fontAlgn="base">
              <a:buNone/>
            </a:pPr>
            <a:r>
              <a:rPr lang="en-US" dirty="0"/>
              <a:t>till                                                           </a:t>
            </a:r>
          </a:p>
          <a:p>
            <a:pPr marL="0" indent="0" fontAlgn="base">
              <a:buNone/>
            </a:pPr>
            <a:r>
              <a:rPr lang="en-US" dirty="0"/>
              <a:t>d = x * b + 4 </a:t>
            </a:r>
          </a:p>
          <a:p>
            <a:pPr marL="0" indent="0" fontAlgn="base">
              <a:buNone/>
            </a:pPr>
            <a:r>
              <a:rPr lang="en-US" dirty="0"/>
              <a:t>  </a:t>
            </a:r>
          </a:p>
          <a:p>
            <a:pPr fontAlgn="base"/>
            <a:endParaRPr lang="en-US" dirty="0"/>
          </a:p>
          <a:p>
            <a:pPr marL="0" indent="0" fontAlgn="base">
              <a:buNone/>
            </a:pPr>
            <a:r>
              <a:rPr lang="en-US" dirty="0"/>
              <a:t>//After Optimization </a:t>
            </a:r>
          </a:p>
          <a:p>
            <a:pPr marL="0" indent="0" fontAlgn="base">
              <a:buNone/>
            </a:pPr>
            <a:r>
              <a:rPr lang="en-US" dirty="0"/>
              <a:t>c = a * b  </a:t>
            </a:r>
          </a:p>
          <a:p>
            <a:pPr marL="0" indent="0" fontAlgn="base">
              <a:buNone/>
            </a:pPr>
            <a:r>
              <a:rPr lang="en-US" dirty="0"/>
              <a:t>x = a</a:t>
            </a:r>
          </a:p>
          <a:p>
            <a:pPr marL="0" indent="0" fontAlgn="base">
              <a:buNone/>
            </a:pPr>
            <a:r>
              <a:rPr lang="en-US" dirty="0"/>
              <a:t>till</a:t>
            </a:r>
          </a:p>
          <a:p>
            <a:pPr marL="0" indent="0" fontAlgn="base">
              <a:buNone/>
            </a:pPr>
            <a:r>
              <a:rPr lang="en-US" dirty="0"/>
              <a:t>d = a * b + 4</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2. Variable </a:t>
            </a:r>
            <a:r>
              <a:rPr lang="en-IN" b="1" dirty="0" smtClean="0">
                <a:solidFill>
                  <a:schemeClr val="tx1"/>
                </a:solidFill>
              </a:rPr>
              <a:t>Propagation</a:t>
            </a:r>
            <a:r>
              <a:rPr lang="en-IN" b="1" dirty="0"/>
              <a:t/>
            </a:r>
            <a:br>
              <a:rPr lang="en-IN" b="1" dirty="0"/>
            </a:br>
            <a:endParaRPr lang="en-IN" dirty="0"/>
          </a:p>
        </p:txBody>
      </p:sp>
    </p:spTree>
    <p:extLst>
      <p:ext uri="{BB962C8B-B14F-4D97-AF65-F5344CB8AC3E}">
        <p14:creationId xmlns:p14="http://schemas.microsoft.com/office/powerpoint/2010/main" val="29767311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smtClean="0"/>
              <a:t>I</a:t>
            </a:r>
            <a:r>
              <a:rPr lang="en-US" dirty="0"/>
              <a:t>f the value of a variable is a constant, then replace the variable with the constant. The variable may not always be a constant</a:t>
            </a:r>
            <a:r>
              <a:rPr lang="en-US" dirty="0" smtClean="0"/>
              <a:t>.</a:t>
            </a:r>
          </a:p>
          <a:p>
            <a:pPr marL="0" indent="0" fontAlgn="base">
              <a:buNone/>
            </a:pPr>
            <a:r>
              <a:rPr lang="en-US" dirty="0"/>
              <a:t>(i)  A = 2*(22.0/7.0)*r</a:t>
            </a:r>
          </a:p>
          <a:p>
            <a:pPr marL="0" indent="0" fontAlgn="base">
              <a:buNone/>
            </a:pPr>
            <a:r>
              <a:rPr lang="en-US" dirty="0"/>
              <a:t>   </a:t>
            </a:r>
            <a:r>
              <a:rPr lang="en-US" dirty="0" smtClean="0"/>
              <a:t>	Performs </a:t>
            </a:r>
            <a:r>
              <a:rPr lang="en-US" dirty="0"/>
              <a:t>2*(22.0/7.0)*r at compile time.</a:t>
            </a:r>
          </a:p>
          <a:p>
            <a:pPr marL="0" indent="0" fontAlgn="base">
              <a:buNone/>
            </a:pPr>
            <a:r>
              <a:rPr lang="en-US" dirty="0"/>
              <a:t>(ii)  x = 12.4</a:t>
            </a:r>
          </a:p>
          <a:p>
            <a:pPr marL="0" indent="0" fontAlgn="base">
              <a:buNone/>
            </a:pPr>
            <a:r>
              <a:rPr lang="en-US" dirty="0"/>
              <a:t> </a:t>
            </a:r>
            <a:r>
              <a:rPr lang="en-US" dirty="0" smtClean="0"/>
              <a:t>	y </a:t>
            </a:r>
            <a:r>
              <a:rPr lang="en-US" dirty="0"/>
              <a:t>= x/2.3</a:t>
            </a:r>
          </a:p>
          <a:p>
            <a:pPr marL="0" indent="0" fontAlgn="base">
              <a:buNone/>
            </a:pPr>
            <a:r>
              <a:rPr lang="en-US" dirty="0" smtClean="0"/>
              <a:t>	Evaluates </a:t>
            </a:r>
            <a:r>
              <a:rPr lang="en-US" dirty="0"/>
              <a:t>x/2.3 as 12.4/2.3 at compile time.</a:t>
            </a:r>
          </a:p>
          <a:p>
            <a:pPr marL="0" indent="0" fontAlgn="base">
              <a:buNone/>
            </a:pPr>
            <a:r>
              <a:rPr lang="en-US" dirty="0"/>
              <a:t>(iii) </a:t>
            </a:r>
            <a:r>
              <a:rPr lang="en-US" dirty="0" err="1"/>
              <a:t>int</a:t>
            </a:r>
            <a:r>
              <a:rPr lang="en-US" dirty="0"/>
              <a:t> k=2;</a:t>
            </a:r>
          </a:p>
          <a:p>
            <a:pPr marL="0" indent="0" fontAlgn="base">
              <a:buNone/>
            </a:pPr>
            <a:r>
              <a:rPr lang="en-US" dirty="0"/>
              <a:t>  </a:t>
            </a:r>
            <a:r>
              <a:rPr lang="en-US" dirty="0" smtClean="0"/>
              <a:t>	if(k</a:t>
            </a:r>
            <a:r>
              <a:rPr lang="en-US" dirty="0"/>
              <a:t>) go to L3;</a:t>
            </a:r>
          </a:p>
          <a:p>
            <a:pPr marL="0" indent="0" fontAlgn="base">
              <a:buNone/>
            </a:pPr>
            <a:r>
              <a:rPr lang="en-US" dirty="0"/>
              <a:t>  It is evaluated as </a:t>
            </a:r>
            <a:r>
              <a:rPr lang="en-US" dirty="0" smtClean="0"/>
              <a:t>:</a:t>
            </a:r>
          </a:p>
          <a:p>
            <a:pPr marL="0" indent="0" fontAlgn="base">
              <a:buNone/>
            </a:pPr>
            <a:r>
              <a:rPr lang="en-US" dirty="0" smtClean="0"/>
              <a:t>go to L3 ( Because k = 2 which implies condition is always true)</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3. Constant </a:t>
            </a:r>
            <a:r>
              <a:rPr lang="en-IN" b="1" dirty="0" smtClean="0">
                <a:solidFill>
                  <a:schemeClr val="tx1"/>
                </a:solidFill>
              </a:rPr>
              <a:t>Propagation</a:t>
            </a:r>
            <a:r>
              <a:rPr lang="en-IN" b="1" dirty="0"/>
              <a:t/>
            </a:r>
            <a:br>
              <a:rPr lang="en-IN" b="1" dirty="0"/>
            </a:br>
            <a:endParaRPr lang="en-IN" dirty="0"/>
          </a:p>
        </p:txBody>
      </p:sp>
    </p:spTree>
    <p:extLst>
      <p:ext uri="{BB962C8B-B14F-4D97-AF65-F5344CB8AC3E}">
        <p14:creationId xmlns:p14="http://schemas.microsoft.com/office/powerpoint/2010/main" val="195328687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7" y="1988840"/>
            <a:ext cx="7884864" cy="4137323"/>
          </a:xfrm>
        </p:spPr>
        <p:txBody>
          <a:bodyPr>
            <a:normAutofit fontScale="92500" lnSpcReduction="10000"/>
          </a:bodyPr>
          <a:lstStyle/>
          <a:p>
            <a:r>
              <a:rPr lang="en-US" dirty="0"/>
              <a:t>Consider an expression : a = b op c and the values b and c are constants, then the value of a can be computed at compile time.</a:t>
            </a:r>
          </a:p>
          <a:p>
            <a:pPr marL="0" indent="0" fontAlgn="base">
              <a:buNone/>
            </a:pPr>
            <a:r>
              <a:rPr lang="en-US" dirty="0"/>
              <a:t>#define k 5</a:t>
            </a:r>
          </a:p>
          <a:p>
            <a:pPr marL="0" indent="0" fontAlgn="base">
              <a:buNone/>
            </a:pPr>
            <a:r>
              <a:rPr lang="en-US" dirty="0"/>
              <a:t>x = 2 * k </a:t>
            </a:r>
          </a:p>
          <a:p>
            <a:pPr marL="0" indent="0" fontAlgn="base">
              <a:buNone/>
            </a:pPr>
            <a:r>
              <a:rPr lang="en-US" dirty="0"/>
              <a:t>y = k + 5</a:t>
            </a:r>
          </a:p>
          <a:p>
            <a:pPr marL="0" indent="0" fontAlgn="base">
              <a:buNone/>
            </a:pPr>
            <a:r>
              <a:rPr lang="en-US" dirty="0"/>
              <a:t>   </a:t>
            </a:r>
          </a:p>
          <a:p>
            <a:pPr marL="0" indent="0" fontAlgn="base">
              <a:buNone/>
            </a:pPr>
            <a:r>
              <a:rPr lang="en-US" dirty="0"/>
              <a:t>This can be computed at compile time and the values of x and y are :</a:t>
            </a:r>
          </a:p>
          <a:p>
            <a:pPr marL="0" indent="0" fontAlgn="base">
              <a:buNone/>
            </a:pPr>
            <a:r>
              <a:rPr lang="en-US" dirty="0"/>
              <a:t> x = 10</a:t>
            </a:r>
          </a:p>
          <a:p>
            <a:pPr marL="0" indent="0" fontAlgn="base">
              <a:buNone/>
            </a:pPr>
            <a:r>
              <a:rPr lang="en-US" dirty="0"/>
              <a:t> y = 10</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4. Constant Folding</a:t>
            </a:r>
            <a:br>
              <a:rPr lang="en-IN" b="1"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31387761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132856"/>
            <a:ext cx="8064895" cy="4320480"/>
          </a:xfrm>
        </p:spPr>
        <p:txBody>
          <a:bodyPr>
            <a:normAutofit fontScale="70000" lnSpcReduction="20000"/>
          </a:bodyPr>
          <a:lstStyle/>
          <a:p>
            <a:pPr fontAlgn="base"/>
            <a:r>
              <a:rPr lang="en-US" dirty="0"/>
              <a:t>It is extension of constant propagation.</a:t>
            </a:r>
          </a:p>
          <a:p>
            <a:pPr fontAlgn="base"/>
            <a:r>
              <a:rPr lang="en-US" dirty="0"/>
              <a:t>After a is assigned to x, use a to replace x till a is assigned again to another variable or value or expression.</a:t>
            </a:r>
          </a:p>
          <a:p>
            <a:pPr fontAlgn="base"/>
            <a:r>
              <a:rPr lang="en-US" dirty="0"/>
              <a:t>It helps in reducing the compile time as it reduces copying.</a:t>
            </a:r>
          </a:p>
          <a:p>
            <a:pPr marL="0" indent="0" fontAlgn="base">
              <a:buNone/>
            </a:pPr>
            <a:r>
              <a:rPr lang="en-US" dirty="0"/>
              <a:t>//Before Optimization</a:t>
            </a:r>
          </a:p>
          <a:p>
            <a:pPr marL="0" indent="0" fontAlgn="base">
              <a:buNone/>
            </a:pPr>
            <a:r>
              <a:rPr lang="en-US" dirty="0"/>
              <a:t>c = a * b                                              </a:t>
            </a:r>
          </a:p>
          <a:p>
            <a:pPr marL="0" indent="0" fontAlgn="base">
              <a:buNone/>
            </a:pPr>
            <a:r>
              <a:rPr lang="en-US" dirty="0"/>
              <a:t>x = a                                                 </a:t>
            </a:r>
          </a:p>
          <a:p>
            <a:pPr marL="0" indent="0" fontAlgn="base">
              <a:buNone/>
            </a:pPr>
            <a:r>
              <a:rPr lang="en-US" dirty="0"/>
              <a:t>till                                                          </a:t>
            </a:r>
          </a:p>
          <a:p>
            <a:pPr marL="0" indent="0" fontAlgn="base">
              <a:buNone/>
            </a:pPr>
            <a:r>
              <a:rPr lang="en-US" dirty="0"/>
              <a:t>d = x * b + 4</a:t>
            </a:r>
          </a:p>
          <a:p>
            <a:pPr marL="0" indent="0" fontAlgn="base">
              <a:buNone/>
            </a:pPr>
            <a:r>
              <a:rPr lang="en-US" dirty="0"/>
              <a:t> </a:t>
            </a:r>
          </a:p>
          <a:p>
            <a:pPr marL="0" indent="0" fontAlgn="base">
              <a:buNone/>
            </a:pPr>
            <a:r>
              <a:rPr lang="en-US" dirty="0"/>
              <a:t> </a:t>
            </a:r>
          </a:p>
          <a:p>
            <a:pPr marL="0" indent="0" fontAlgn="base">
              <a:buNone/>
            </a:pPr>
            <a:r>
              <a:rPr lang="en-US" dirty="0"/>
              <a:t>//After Optimization</a:t>
            </a:r>
          </a:p>
          <a:p>
            <a:pPr marL="0" indent="0" fontAlgn="base">
              <a:buNone/>
            </a:pPr>
            <a:r>
              <a:rPr lang="en-US" dirty="0"/>
              <a:t>c = a * b </a:t>
            </a:r>
          </a:p>
          <a:p>
            <a:pPr marL="0" indent="0" fontAlgn="base">
              <a:buNone/>
            </a:pPr>
            <a:r>
              <a:rPr lang="en-US" dirty="0"/>
              <a:t>x = a</a:t>
            </a:r>
          </a:p>
          <a:p>
            <a:pPr marL="0" indent="0" fontAlgn="base">
              <a:buNone/>
            </a:pPr>
            <a:r>
              <a:rPr lang="en-US" dirty="0"/>
              <a:t>till</a:t>
            </a:r>
          </a:p>
          <a:p>
            <a:pPr marL="0" indent="0" fontAlgn="base">
              <a:buNone/>
            </a:pPr>
            <a:r>
              <a:rPr lang="en-US" dirty="0"/>
              <a:t>d = a * b + 4</a:t>
            </a:r>
          </a:p>
          <a:p>
            <a:pPr marL="0" indent="0">
              <a:buNone/>
            </a:pPr>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5. Copy Propagation</a:t>
            </a:r>
            <a:r>
              <a:rPr lang="en-IN" b="1" dirty="0"/>
              <a:t/>
            </a:r>
            <a:br>
              <a:rPr lang="en-IN" b="1" dirty="0"/>
            </a:br>
            <a:endParaRPr lang="en-IN" dirty="0"/>
          </a:p>
        </p:txBody>
      </p:sp>
    </p:spTree>
    <p:extLst>
      <p:ext uri="{BB962C8B-B14F-4D97-AF65-F5344CB8AC3E}">
        <p14:creationId xmlns:p14="http://schemas.microsoft.com/office/powerpoint/2010/main" val="6410006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3" y="2132856"/>
            <a:ext cx="7740848" cy="3993307"/>
          </a:xfrm>
        </p:spPr>
        <p:txBody>
          <a:bodyPr/>
          <a:lstStyle/>
          <a:p>
            <a:r>
              <a:rPr lang="en-US" dirty="0"/>
              <a:t>In the above example, a*b and x*b is a common sub expression</a:t>
            </a:r>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6. Common Sub Expression </a:t>
            </a:r>
            <a:r>
              <a:rPr lang="en-IN" b="1" dirty="0" smtClean="0">
                <a:solidFill>
                  <a:schemeClr val="tx1"/>
                </a:solidFill>
              </a:rPr>
              <a:t>Elimination</a:t>
            </a:r>
            <a:r>
              <a:rPr lang="en-IN" b="1" dirty="0">
                <a:solidFill>
                  <a:schemeClr val="tx1"/>
                </a:solidFill>
              </a:rPr>
              <a:t/>
            </a:r>
            <a:br>
              <a:rPr lang="en-IN" b="1"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47436547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3" y="1916832"/>
            <a:ext cx="7740848" cy="4209331"/>
          </a:xfrm>
        </p:spPr>
        <p:txBody>
          <a:bodyPr>
            <a:normAutofit fontScale="85000" lnSpcReduction="20000"/>
          </a:bodyPr>
          <a:lstStyle/>
          <a:p>
            <a:pPr fontAlgn="base"/>
            <a:r>
              <a:rPr lang="en-US" dirty="0">
                <a:latin typeface="Times New Roman" pitchFamily="18" charset="0"/>
                <a:cs typeface="Times New Roman" pitchFamily="18" charset="0"/>
              </a:rPr>
              <a:t>Copy propagation often leads to making assignment statements into dead code.</a:t>
            </a:r>
          </a:p>
          <a:p>
            <a:pPr fontAlgn="base"/>
            <a:r>
              <a:rPr lang="en-US" dirty="0">
                <a:latin typeface="Times New Roman" pitchFamily="18" charset="0"/>
                <a:cs typeface="Times New Roman" pitchFamily="18" charset="0"/>
              </a:rPr>
              <a:t>A variable is said to be dead if it is never used after its last definition.</a:t>
            </a:r>
          </a:p>
          <a:p>
            <a:pPr fontAlgn="base"/>
            <a:r>
              <a:rPr lang="en-US" dirty="0">
                <a:latin typeface="Times New Roman" pitchFamily="18" charset="0"/>
                <a:cs typeface="Times New Roman" pitchFamily="18" charset="0"/>
              </a:rPr>
              <a:t>In order to find the dead variables, a data flow analysis should be done</a:t>
            </a:r>
          </a:p>
          <a:p>
            <a:pPr marL="0" indent="0" fontAlgn="base">
              <a:buNone/>
            </a:pPr>
            <a:r>
              <a:rPr lang="en-US" dirty="0">
                <a:latin typeface="Times New Roman" pitchFamily="18" charset="0"/>
                <a:cs typeface="Times New Roman" pitchFamily="18" charset="0"/>
              </a:rPr>
              <a:t>c = a * b                                               </a:t>
            </a:r>
          </a:p>
          <a:p>
            <a:pPr marL="0" indent="0" fontAlgn="base">
              <a:buNone/>
            </a:pPr>
            <a:r>
              <a:rPr lang="en-US" dirty="0">
                <a:latin typeface="Times New Roman" pitchFamily="18" charset="0"/>
                <a:cs typeface="Times New Roman" pitchFamily="18" charset="0"/>
              </a:rPr>
              <a:t>x = a                                               </a:t>
            </a:r>
          </a:p>
          <a:p>
            <a:pPr marL="0" indent="0" fontAlgn="base">
              <a:buNone/>
            </a:pPr>
            <a:r>
              <a:rPr lang="en-US" dirty="0">
                <a:latin typeface="Times New Roman" pitchFamily="18" charset="0"/>
                <a:cs typeface="Times New Roman" pitchFamily="18" charset="0"/>
              </a:rPr>
              <a:t>till                                                         </a:t>
            </a:r>
          </a:p>
          <a:p>
            <a:pPr marL="0" indent="0" fontAlgn="base">
              <a:buNone/>
            </a:pPr>
            <a:r>
              <a:rPr lang="en-US" dirty="0">
                <a:latin typeface="Times New Roman" pitchFamily="18" charset="0"/>
                <a:cs typeface="Times New Roman" pitchFamily="18" charset="0"/>
              </a:rPr>
              <a:t>d = a * b + 4  </a:t>
            </a:r>
          </a:p>
          <a:p>
            <a:pPr marL="0" indent="0" fontAlgn="base">
              <a:buNone/>
            </a:pPr>
            <a:r>
              <a:rPr lang="en-US" dirty="0">
                <a:latin typeface="Times New Roman" pitchFamily="18" charset="0"/>
                <a:cs typeface="Times New Roman" pitchFamily="18" charset="0"/>
              </a:rPr>
              <a:t> </a:t>
            </a:r>
          </a:p>
          <a:p>
            <a:pPr marL="0" indent="0" fontAlgn="base">
              <a:buNone/>
            </a:pPr>
            <a:r>
              <a:rPr lang="en-US" dirty="0">
                <a:latin typeface="Times New Roman" pitchFamily="18" charset="0"/>
                <a:cs typeface="Times New Roman" pitchFamily="18" charset="0"/>
              </a:rPr>
              <a:t>//After elimination :</a:t>
            </a:r>
          </a:p>
          <a:p>
            <a:pPr marL="0" indent="0" fontAlgn="base">
              <a:buNone/>
            </a:pPr>
            <a:r>
              <a:rPr lang="en-US" dirty="0">
                <a:latin typeface="Times New Roman" pitchFamily="18" charset="0"/>
                <a:cs typeface="Times New Roman" pitchFamily="18" charset="0"/>
              </a:rPr>
              <a:t>c = a * b</a:t>
            </a:r>
          </a:p>
          <a:p>
            <a:pPr marL="0" indent="0" fontAlgn="base">
              <a:buNone/>
            </a:pPr>
            <a:r>
              <a:rPr lang="en-US" dirty="0">
                <a:latin typeface="Times New Roman" pitchFamily="18" charset="0"/>
                <a:cs typeface="Times New Roman" pitchFamily="18" charset="0"/>
              </a:rPr>
              <a:t>till</a:t>
            </a:r>
          </a:p>
          <a:p>
            <a:pPr marL="0" indent="0" fontAlgn="base">
              <a:buNone/>
            </a:pPr>
            <a:r>
              <a:rPr lang="en-US" dirty="0">
                <a:latin typeface="Times New Roman" pitchFamily="18" charset="0"/>
                <a:cs typeface="Times New Roman" pitchFamily="18" charset="0"/>
              </a:rPr>
              <a:t>d = a * b + 4</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7. Dead Code </a:t>
            </a:r>
            <a:r>
              <a:rPr lang="en-IN" b="1" dirty="0" smtClean="0">
                <a:solidFill>
                  <a:schemeClr val="tx1"/>
                </a:solidFill>
              </a:rPr>
              <a:t>Elimination</a:t>
            </a:r>
            <a:r>
              <a:rPr lang="en-IN" b="1" dirty="0"/>
              <a:t/>
            </a:r>
            <a:br>
              <a:rPr lang="en-IN" b="1" dirty="0"/>
            </a:br>
            <a:endParaRPr lang="en-IN" dirty="0"/>
          </a:p>
        </p:txBody>
      </p:sp>
    </p:spTree>
    <p:extLst>
      <p:ext uri="{BB962C8B-B14F-4D97-AF65-F5344CB8AC3E}">
        <p14:creationId xmlns:p14="http://schemas.microsoft.com/office/powerpoint/2010/main" val="42124471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1" y="1844824"/>
            <a:ext cx="7668840" cy="4281339"/>
          </a:xfrm>
        </p:spPr>
        <p:txBody>
          <a:bodyPr/>
          <a:lstStyle/>
          <a:p>
            <a:pPr fontAlgn="base"/>
            <a:r>
              <a:rPr lang="en-US" dirty="0">
                <a:latin typeface="Times New Roman" pitchFamily="18" charset="0"/>
                <a:cs typeface="Times New Roman" pitchFamily="18" charset="0"/>
              </a:rPr>
              <a:t>First, Control Flow Graph should be constructed.</a:t>
            </a:r>
          </a:p>
          <a:p>
            <a:pPr fontAlgn="base"/>
            <a:r>
              <a:rPr lang="en-US" dirty="0">
                <a:latin typeface="Times New Roman" pitchFamily="18" charset="0"/>
                <a:cs typeface="Times New Roman" pitchFamily="18" charset="0"/>
              </a:rPr>
              <a:t>The block which does not have an incoming edge is an Unreachable code block.</a:t>
            </a:r>
          </a:p>
          <a:p>
            <a:pPr fontAlgn="base"/>
            <a:r>
              <a:rPr lang="en-US" dirty="0">
                <a:latin typeface="Times New Roman" pitchFamily="18" charset="0"/>
                <a:cs typeface="Times New Roman" pitchFamily="18" charset="0"/>
              </a:rPr>
              <a:t>After constant propagation and constant folding, the unreachable branches can be eliminated.</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8. Unreachable Code </a:t>
            </a:r>
            <a:r>
              <a:rPr lang="en-IN" b="1" dirty="0" smtClean="0">
                <a:solidFill>
                  <a:schemeClr val="tx1"/>
                </a:solidFill>
              </a:rPr>
              <a:t>Elimination</a:t>
            </a:r>
            <a:r>
              <a:rPr lang="en-IN" b="1" dirty="0"/>
              <a:t/>
            </a:r>
            <a:br>
              <a:rPr lang="en-IN" b="1" dirty="0"/>
            </a:br>
            <a:endParaRPr lang="en-IN" dirty="0"/>
          </a:p>
        </p:txBody>
      </p:sp>
    </p:spTree>
    <p:extLst>
      <p:ext uri="{BB962C8B-B14F-4D97-AF65-F5344CB8AC3E}">
        <p14:creationId xmlns:p14="http://schemas.microsoft.com/office/powerpoint/2010/main" val="424502916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5" y="1988840"/>
            <a:ext cx="7812856" cy="4137323"/>
          </a:xfrm>
        </p:spPr>
        <p:txBody>
          <a:bodyPr/>
          <a:lstStyle/>
          <a:p>
            <a:pPr fontAlgn="base"/>
            <a:r>
              <a:rPr lang="en-US" dirty="0"/>
              <a:t>An induction variable is used in the loop for the following kind of assignment i = i + constant. It is a kind of Loop Optimization Technique. </a:t>
            </a:r>
          </a:p>
          <a:p>
            <a:pPr fontAlgn="base"/>
            <a:r>
              <a:rPr lang="en-US" dirty="0"/>
              <a:t>Strength reduction means replacing the high strength operator with a low strength.</a:t>
            </a:r>
          </a:p>
          <a:p>
            <a:endParaRPr lang="en-IN" dirty="0"/>
          </a:p>
        </p:txBody>
      </p:sp>
      <p:sp>
        <p:nvSpPr>
          <p:cNvPr id="2" name="Title 1"/>
          <p:cNvSpPr>
            <a:spLocks noGrp="1"/>
          </p:cNvSpPr>
          <p:nvPr>
            <p:ph type="title"/>
          </p:nvPr>
        </p:nvSpPr>
        <p:spPr/>
        <p:txBody>
          <a:bodyPr>
            <a:normAutofit fontScale="90000"/>
          </a:bodyPr>
          <a:lstStyle/>
          <a:p>
            <a:r>
              <a:rPr lang="en-US" b="1" dirty="0" smtClean="0">
                <a:solidFill>
                  <a:schemeClr val="tx1"/>
                </a:solidFill>
              </a:rPr>
              <a:t>9. Induction </a:t>
            </a:r>
            <a:r>
              <a:rPr lang="en-US" b="1" dirty="0">
                <a:solidFill>
                  <a:schemeClr val="tx1"/>
                </a:solidFill>
              </a:rPr>
              <a:t>Variable and Strength </a:t>
            </a:r>
            <a:r>
              <a:rPr lang="en-US" b="1" dirty="0" smtClean="0">
                <a:solidFill>
                  <a:schemeClr val="tx1"/>
                </a:solidFill>
              </a:rPr>
              <a:t>Reduction</a:t>
            </a:r>
            <a:r>
              <a:rPr lang="en-US" b="1" dirty="0"/>
              <a:t/>
            </a:r>
            <a:br>
              <a:rPr lang="en-US" b="1" dirty="0"/>
            </a:br>
            <a:endParaRPr lang="en-IN" dirty="0"/>
          </a:p>
        </p:txBody>
      </p:sp>
    </p:spTree>
    <p:extLst>
      <p:ext uri="{BB962C8B-B14F-4D97-AF65-F5344CB8AC3E}">
        <p14:creationId xmlns:p14="http://schemas.microsoft.com/office/powerpoint/2010/main" val="17312233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2204864"/>
            <a:ext cx="7408333" cy="3921299"/>
          </a:xfrm>
        </p:spPr>
        <p:txBody>
          <a:bodyPr>
            <a:normAutofit/>
          </a:bodyPr>
          <a:lstStyle/>
          <a:p>
            <a:pPr marL="0" indent="0">
              <a:buNone/>
            </a:pPr>
            <a:r>
              <a:rPr lang="en-IN" sz="4000" b="1" dirty="0"/>
              <a:t>Loop Optimization Techniques</a:t>
            </a:r>
            <a:endParaRPr lang="en-IN" sz="4000" dirty="0"/>
          </a:p>
        </p:txBody>
      </p:sp>
      <p:sp>
        <p:nvSpPr>
          <p:cNvPr id="2" name="Title 1"/>
          <p:cNvSpPr>
            <a:spLocks noGrp="1"/>
          </p:cNvSpPr>
          <p:nvPr>
            <p:ph type="title"/>
          </p:nvPr>
        </p:nvSpPr>
        <p:spPr/>
        <p:txBody>
          <a:bodyPr>
            <a:normAutofit fontScale="90000"/>
          </a:bodyPr>
          <a:lstStyle/>
          <a:p>
            <a:r>
              <a:rPr lang="en-IN" b="1" dirty="0"/>
              <a:t/>
            </a:r>
            <a:br>
              <a:rPr lang="en-IN" b="1" dirty="0"/>
            </a:br>
            <a:endParaRPr lang="en-IN" dirty="0"/>
          </a:p>
        </p:txBody>
      </p:sp>
    </p:spTree>
    <p:extLst>
      <p:ext uri="{BB962C8B-B14F-4D97-AF65-F5344CB8AC3E}">
        <p14:creationId xmlns:p14="http://schemas.microsoft.com/office/powerpoint/2010/main" val="30167361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772816"/>
            <a:ext cx="8424935" cy="4608512"/>
          </a:xfrm>
        </p:spPr>
        <p:txBody>
          <a:bodyPr>
            <a:normAutofit fontScale="62500" lnSpcReduction="20000"/>
          </a:bodyPr>
          <a:lstStyle/>
          <a:p>
            <a:pPr fontAlgn="base"/>
            <a:r>
              <a:rPr lang="en-US" dirty="0"/>
              <a:t>The evaluation frequency of expression is reduced.</a:t>
            </a:r>
          </a:p>
          <a:p>
            <a:pPr fontAlgn="base"/>
            <a:r>
              <a:rPr lang="en-US" dirty="0"/>
              <a:t>The loop invariant statements are brought out of the loop.</a:t>
            </a:r>
          </a:p>
          <a:p>
            <a:pPr marL="0" indent="0" fontAlgn="base">
              <a:buNone/>
            </a:pPr>
            <a:r>
              <a:rPr lang="en-US" dirty="0"/>
              <a:t>a = 200;</a:t>
            </a:r>
          </a:p>
          <a:p>
            <a:pPr marL="0" indent="0" fontAlgn="base">
              <a:buNone/>
            </a:pPr>
            <a:r>
              <a:rPr lang="en-US" dirty="0"/>
              <a:t> while(a&gt;0)</a:t>
            </a:r>
          </a:p>
          <a:p>
            <a:pPr marL="0" indent="0" fontAlgn="base">
              <a:buNone/>
            </a:pPr>
            <a:r>
              <a:rPr lang="en-US" dirty="0"/>
              <a:t> </a:t>
            </a:r>
            <a:r>
              <a:rPr lang="en-US" dirty="0" smtClean="0"/>
              <a:t>{</a:t>
            </a:r>
          </a:p>
          <a:p>
            <a:pPr marL="0" indent="0" fontAlgn="base">
              <a:buNone/>
            </a:pPr>
            <a:r>
              <a:rPr lang="en-US" dirty="0"/>
              <a:t>  b = x + y</a:t>
            </a:r>
            <a:r>
              <a:rPr lang="en-US" dirty="0" smtClean="0"/>
              <a:t>;</a:t>
            </a:r>
          </a:p>
          <a:p>
            <a:pPr marL="0" indent="0" fontAlgn="base">
              <a:buNone/>
            </a:pPr>
            <a:r>
              <a:rPr lang="en-US" dirty="0"/>
              <a:t>   if (a % b == 0)</a:t>
            </a:r>
          </a:p>
          <a:p>
            <a:pPr marL="0" indent="0" fontAlgn="base">
              <a:buNone/>
            </a:pPr>
            <a:r>
              <a:rPr lang="en-US" dirty="0" err="1" smtClean="0"/>
              <a:t>printf</a:t>
            </a:r>
            <a:r>
              <a:rPr lang="en-US" dirty="0"/>
              <a:t>(“%d”, a);</a:t>
            </a:r>
          </a:p>
          <a:p>
            <a:pPr marL="0" indent="0" fontAlgn="base">
              <a:buNone/>
            </a:pPr>
            <a:r>
              <a:rPr lang="en-US" dirty="0"/>
              <a:t>   }</a:t>
            </a:r>
          </a:p>
          <a:p>
            <a:pPr marL="0" indent="0" fontAlgn="base">
              <a:buNone/>
            </a:pPr>
            <a:r>
              <a:rPr lang="en-US" dirty="0"/>
              <a:t> </a:t>
            </a:r>
          </a:p>
          <a:p>
            <a:pPr marL="0" indent="0" fontAlgn="base">
              <a:buNone/>
            </a:pPr>
            <a:r>
              <a:rPr lang="en-US" dirty="0"/>
              <a:t> </a:t>
            </a:r>
          </a:p>
          <a:p>
            <a:pPr marL="0" indent="0" fontAlgn="base">
              <a:buNone/>
            </a:pPr>
            <a:r>
              <a:rPr lang="en-US" dirty="0"/>
              <a:t>//This code can be further optimized as</a:t>
            </a:r>
          </a:p>
          <a:p>
            <a:pPr marL="0" indent="0" fontAlgn="base">
              <a:buNone/>
            </a:pPr>
            <a:r>
              <a:rPr lang="en-US" dirty="0"/>
              <a:t>a = 200;</a:t>
            </a:r>
          </a:p>
          <a:p>
            <a:pPr marL="0" indent="0" fontAlgn="base">
              <a:buNone/>
            </a:pPr>
            <a:r>
              <a:rPr lang="en-US" dirty="0"/>
              <a:t>b = x + y;</a:t>
            </a:r>
          </a:p>
          <a:p>
            <a:pPr marL="0" indent="0" fontAlgn="base">
              <a:buNone/>
            </a:pPr>
            <a:r>
              <a:rPr lang="en-US" dirty="0"/>
              <a:t>while(a&gt;0)</a:t>
            </a:r>
          </a:p>
          <a:p>
            <a:pPr marL="0" indent="0" fontAlgn="base">
              <a:buNone/>
            </a:pPr>
            <a:r>
              <a:rPr lang="en-US" dirty="0"/>
              <a:t> {</a:t>
            </a:r>
          </a:p>
          <a:p>
            <a:pPr marL="0" indent="0" fontAlgn="base">
              <a:buNone/>
            </a:pPr>
            <a:r>
              <a:rPr lang="en-US" dirty="0"/>
              <a:t>   if (a % b == 0}</a:t>
            </a:r>
          </a:p>
          <a:p>
            <a:pPr marL="0" indent="0" fontAlgn="base">
              <a:buNone/>
            </a:pPr>
            <a:r>
              <a:rPr lang="en-US" dirty="0"/>
              <a:t>    </a:t>
            </a:r>
            <a:r>
              <a:rPr lang="en-US" dirty="0" err="1"/>
              <a:t>printf</a:t>
            </a:r>
            <a:r>
              <a:rPr lang="en-US" dirty="0"/>
              <a:t>(“%d”, a);</a:t>
            </a:r>
          </a:p>
          <a:p>
            <a:pPr marL="0" indent="0" fontAlgn="base">
              <a:buNone/>
            </a:pPr>
            <a:r>
              <a:rPr lang="en-US" dirty="0"/>
              <a:t>   }</a:t>
            </a:r>
          </a:p>
          <a:p>
            <a:pPr marL="0" indent="0">
              <a:buNone/>
            </a:pPr>
            <a:endParaRPr lang="en-IN" dirty="0"/>
          </a:p>
        </p:txBody>
      </p:sp>
      <p:sp>
        <p:nvSpPr>
          <p:cNvPr id="2" name="Title 1"/>
          <p:cNvSpPr>
            <a:spLocks noGrp="1"/>
          </p:cNvSpPr>
          <p:nvPr>
            <p:ph type="title"/>
          </p:nvPr>
        </p:nvSpPr>
        <p:spPr/>
        <p:txBody>
          <a:bodyPr>
            <a:normAutofit fontScale="90000"/>
          </a:bodyPr>
          <a:lstStyle/>
          <a:p>
            <a:r>
              <a:rPr lang="en-US" b="1" dirty="0">
                <a:solidFill>
                  <a:schemeClr val="tx1"/>
                </a:solidFill>
              </a:rPr>
              <a:t>1. Code Motion or Frequency </a:t>
            </a:r>
            <a:r>
              <a:rPr lang="en-US" b="1" dirty="0" smtClean="0">
                <a:solidFill>
                  <a:schemeClr val="tx1"/>
                </a:solidFill>
              </a:rPr>
              <a:t>Reduction</a:t>
            </a:r>
            <a:endParaRPr lang="en-IN" dirty="0"/>
          </a:p>
        </p:txBody>
      </p:sp>
    </p:spTree>
    <p:extLst>
      <p:ext uri="{BB962C8B-B14F-4D97-AF65-F5344CB8AC3E}">
        <p14:creationId xmlns:p14="http://schemas.microsoft.com/office/powerpoint/2010/main" val="9102699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28800"/>
            <a:ext cx="7920879" cy="4680520"/>
          </a:xfrm>
        </p:spPr>
        <p:txBody>
          <a:bodyPr>
            <a:normAutofit fontScale="62500" lnSpcReduction="20000"/>
          </a:bodyPr>
          <a:lstStyle/>
          <a:p>
            <a:r>
              <a:rPr lang="en-US" dirty="0"/>
              <a:t>Two or more loops are combined in a single loop. It helps in reducing the compile time.</a:t>
            </a:r>
          </a:p>
          <a:p>
            <a:pPr marL="0" indent="0" fontAlgn="base">
              <a:buNone/>
            </a:pPr>
            <a:r>
              <a:rPr lang="en-IN" dirty="0"/>
              <a:t>// Before loop jamming</a:t>
            </a:r>
          </a:p>
          <a:p>
            <a:pPr marL="0" indent="0" fontAlgn="base">
              <a:buNone/>
            </a:pPr>
            <a:r>
              <a:rPr lang="en-IN" dirty="0"/>
              <a:t>for(</a:t>
            </a:r>
            <a:r>
              <a:rPr lang="en-IN" dirty="0" err="1"/>
              <a:t>int</a:t>
            </a:r>
            <a:r>
              <a:rPr lang="en-IN" dirty="0"/>
              <a:t> k=0;k&lt;10;k++)</a:t>
            </a:r>
          </a:p>
          <a:p>
            <a:pPr marL="0" indent="0" fontAlgn="base">
              <a:buNone/>
            </a:pPr>
            <a:r>
              <a:rPr lang="en-IN" dirty="0"/>
              <a:t>{</a:t>
            </a:r>
          </a:p>
          <a:p>
            <a:pPr marL="0" indent="0" fontAlgn="base">
              <a:buNone/>
            </a:pPr>
            <a:r>
              <a:rPr lang="en-IN" dirty="0"/>
              <a:t> x = k*2;</a:t>
            </a:r>
          </a:p>
          <a:p>
            <a:pPr marL="0" indent="0" fontAlgn="base">
              <a:buNone/>
            </a:pPr>
            <a:r>
              <a:rPr lang="en-IN" dirty="0"/>
              <a:t>}</a:t>
            </a:r>
          </a:p>
          <a:p>
            <a:pPr marL="0" indent="0" fontAlgn="base">
              <a:buNone/>
            </a:pPr>
            <a:r>
              <a:rPr lang="en-IN" dirty="0"/>
              <a:t> </a:t>
            </a:r>
          </a:p>
          <a:p>
            <a:pPr marL="0" indent="0" fontAlgn="base">
              <a:buNone/>
            </a:pPr>
            <a:r>
              <a:rPr lang="en-IN" dirty="0"/>
              <a:t>for(</a:t>
            </a:r>
            <a:r>
              <a:rPr lang="en-IN" dirty="0" err="1"/>
              <a:t>int</a:t>
            </a:r>
            <a:r>
              <a:rPr lang="en-IN" dirty="0"/>
              <a:t> k=0;k&lt;10;k++)</a:t>
            </a:r>
          </a:p>
          <a:p>
            <a:pPr marL="0" indent="0" fontAlgn="base">
              <a:buNone/>
            </a:pPr>
            <a:r>
              <a:rPr lang="en-IN" dirty="0"/>
              <a:t>{</a:t>
            </a:r>
          </a:p>
          <a:p>
            <a:pPr marL="0" indent="0" fontAlgn="base">
              <a:buNone/>
            </a:pPr>
            <a:r>
              <a:rPr lang="en-IN" dirty="0"/>
              <a:t> y = k+3;</a:t>
            </a:r>
          </a:p>
          <a:p>
            <a:pPr marL="0" indent="0" fontAlgn="base">
              <a:buNone/>
            </a:pPr>
            <a:r>
              <a:rPr lang="en-IN" dirty="0"/>
              <a:t>}</a:t>
            </a:r>
          </a:p>
          <a:p>
            <a:pPr marL="0" indent="0" fontAlgn="base">
              <a:buNone/>
            </a:pPr>
            <a:r>
              <a:rPr lang="en-IN" dirty="0"/>
              <a:t> </a:t>
            </a:r>
          </a:p>
          <a:p>
            <a:pPr marL="0" indent="0" fontAlgn="base">
              <a:buNone/>
            </a:pPr>
            <a:r>
              <a:rPr lang="en-IN" dirty="0"/>
              <a:t>//After loop jamming</a:t>
            </a:r>
          </a:p>
          <a:p>
            <a:pPr marL="0" indent="0" fontAlgn="base">
              <a:buNone/>
            </a:pPr>
            <a:r>
              <a:rPr lang="en-IN" dirty="0"/>
              <a:t>for(</a:t>
            </a:r>
            <a:r>
              <a:rPr lang="en-IN" dirty="0" err="1"/>
              <a:t>int</a:t>
            </a:r>
            <a:r>
              <a:rPr lang="en-IN" dirty="0"/>
              <a:t> k=0;k&lt;10;k++)</a:t>
            </a:r>
          </a:p>
          <a:p>
            <a:pPr marL="0" indent="0" fontAlgn="base">
              <a:buNone/>
            </a:pPr>
            <a:r>
              <a:rPr lang="en-IN" dirty="0"/>
              <a:t>{</a:t>
            </a:r>
          </a:p>
          <a:p>
            <a:pPr marL="0" indent="0" fontAlgn="base">
              <a:buNone/>
            </a:pPr>
            <a:r>
              <a:rPr lang="en-IN" dirty="0"/>
              <a:t> x = k*2;</a:t>
            </a:r>
          </a:p>
          <a:p>
            <a:pPr marL="0" indent="0" fontAlgn="base">
              <a:buNone/>
            </a:pPr>
            <a:r>
              <a:rPr lang="en-IN" dirty="0"/>
              <a:t> y = k+3;</a:t>
            </a:r>
          </a:p>
          <a:p>
            <a:pPr marL="0" indent="0" fontAlgn="base">
              <a:buNone/>
            </a:pPr>
            <a:r>
              <a:rPr lang="en-IN" dirty="0"/>
              <a:t>}</a:t>
            </a:r>
          </a:p>
          <a:p>
            <a:pPr marL="0" indent="0">
              <a:buNone/>
            </a:pPr>
            <a:endParaRPr lang="en-IN" dirty="0"/>
          </a:p>
        </p:txBody>
      </p:sp>
      <p:sp>
        <p:nvSpPr>
          <p:cNvPr id="2" name="Title 1"/>
          <p:cNvSpPr>
            <a:spLocks noGrp="1"/>
          </p:cNvSpPr>
          <p:nvPr>
            <p:ph type="title"/>
          </p:nvPr>
        </p:nvSpPr>
        <p:spPr/>
        <p:txBody>
          <a:bodyPr/>
          <a:lstStyle/>
          <a:p>
            <a:r>
              <a:rPr lang="en-IN" b="1" dirty="0">
                <a:solidFill>
                  <a:schemeClr val="tx1"/>
                </a:solidFill>
              </a:rPr>
              <a:t>2. Loop Jamming</a:t>
            </a:r>
            <a:endParaRPr lang="en-IN" dirty="0">
              <a:solidFill>
                <a:schemeClr val="tx1"/>
              </a:solidFill>
            </a:endParaRPr>
          </a:p>
        </p:txBody>
      </p:sp>
    </p:spTree>
    <p:extLst>
      <p:ext uri="{BB962C8B-B14F-4D97-AF65-F5344CB8AC3E}">
        <p14:creationId xmlns:p14="http://schemas.microsoft.com/office/powerpoint/2010/main" val="385443224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7" y="1916832"/>
            <a:ext cx="7884864" cy="4209331"/>
          </a:xfrm>
        </p:spPr>
        <p:txBody>
          <a:bodyPr>
            <a:normAutofit fontScale="70000" lnSpcReduction="20000"/>
          </a:bodyPr>
          <a:lstStyle/>
          <a:p>
            <a:pPr fontAlgn="base"/>
            <a:r>
              <a:rPr lang="en-US" dirty="0"/>
              <a:t>It helps in optimizing the execution time of the program by reducing the iterations.</a:t>
            </a:r>
          </a:p>
          <a:p>
            <a:pPr fontAlgn="base"/>
            <a:r>
              <a:rPr lang="en-US" dirty="0"/>
              <a:t>It increases the program’s speed by eliminating the loop control and test instructions.</a:t>
            </a:r>
          </a:p>
          <a:p>
            <a:pPr marL="0" indent="0" fontAlgn="base">
              <a:buNone/>
            </a:pPr>
            <a:r>
              <a:rPr lang="en-IN" dirty="0"/>
              <a:t>//Before Loop Unrolling</a:t>
            </a:r>
          </a:p>
          <a:p>
            <a:pPr marL="0" indent="0" fontAlgn="base">
              <a:buNone/>
            </a:pPr>
            <a:endParaRPr lang="en-IN" dirty="0"/>
          </a:p>
          <a:p>
            <a:pPr marL="0" indent="0" fontAlgn="base">
              <a:buNone/>
            </a:pPr>
            <a:r>
              <a:rPr lang="en-IN" dirty="0"/>
              <a:t>for(</a:t>
            </a:r>
            <a:r>
              <a:rPr lang="en-IN" dirty="0" err="1"/>
              <a:t>int</a:t>
            </a:r>
            <a:r>
              <a:rPr lang="en-IN" dirty="0"/>
              <a:t> i=0;i&lt;2;i++)</a:t>
            </a:r>
          </a:p>
          <a:p>
            <a:pPr marL="0" indent="0" fontAlgn="base">
              <a:buNone/>
            </a:pPr>
            <a:r>
              <a:rPr lang="en-IN" dirty="0"/>
              <a:t>{</a:t>
            </a:r>
          </a:p>
          <a:p>
            <a:pPr marL="0" indent="0" fontAlgn="base">
              <a:buNone/>
            </a:pPr>
            <a:r>
              <a:rPr lang="en-IN" dirty="0"/>
              <a:t>  </a:t>
            </a:r>
            <a:r>
              <a:rPr lang="en-IN" dirty="0" err="1"/>
              <a:t>printf</a:t>
            </a:r>
            <a:r>
              <a:rPr lang="en-IN" dirty="0"/>
              <a:t>("Hello");</a:t>
            </a:r>
          </a:p>
          <a:p>
            <a:pPr marL="0" indent="0" fontAlgn="base">
              <a:buNone/>
            </a:pPr>
            <a:r>
              <a:rPr lang="en-IN" dirty="0"/>
              <a:t>}</a:t>
            </a:r>
          </a:p>
          <a:p>
            <a:pPr marL="0" indent="0" fontAlgn="base">
              <a:buNone/>
            </a:pPr>
            <a:r>
              <a:rPr lang="en-IN" dirty="0"/>
              <a:t> </a:t>
            </a:r>
          </a:p>
          <a:p>
            <a:pPr marL="0" indent="0" fontAlgn="base">
              <a:buNone/>
            </a:pPr>
            <a:r>
              <a:rPr lang="en-IN" dirty="0"/>
              <a:t>//After Loop Unrolling</a:t>
            </a:r>
          </a:p>
          <a:p>
            <a:pPr marL="0" indent="0" fontAlgn="base">
              <a:buNone/>
            </a:pPr>
            <a:endParaRPr lang="en-IN" dirty="0"/>
          </a:p>
          <a:p>
            <a:pPr marL="0" indent="0" fontAlgn="base">
              <a:buNone/>
            </a:pPr>
            <a:r>
              <a:rPr lang="en-IN" dirty="0" err="1"/>
              <a:t>printf</a:t>
            </a:r>
            <a:r>
              <a:rPr lang="en-IN" dirty="0"/>
              <a:t>("Hello");</a:t>
            </a:r>
          </a:p>
          <a:p>
            <a:pPr marL="0" indent="0" fontAlgn="base">
              <a:buNone/>
            </a:pPr>
            <a:r>
              <a:rPr lang="en-IN" dirty="0" err="1"/>
              <a:t>printf</a:t>
            </a:r>
            <a:r>
              <a:rPr lang="en-IN" dirty="0"/>
              <a:t>("Hello");</a:t>
            </a:r>
          </a:p>
          <a:p>
            <a:pPr marL="0" indent="0">
              <a:buNone/>
            </a:pPr>
            <a:endParaRPr lang="en-IN" dirty="0"/>
          </a:p>
        </p:txBody>
      </p:sp>
      <p:sp>
        <p:nvSpPr>
          <p:cNvPr id="2" name="Title 1"/>
          <p:cNvSpPr>
            <a:spLocks noGrp="1"/>
          </p:cNvSpPr>
          <p:nvPr>
            <p:ph type="title"/>
          </p:nvPr>
        </p:nvSpPr>
        <p:spPr/>
        <p:txBody>
          <a:bodyPr/>
          <a:lstStyle/>
          <a:p>
            <a:r>
              <a:rPr lang="en-IN" b="1" dirty="0">
                <a:solidFill>
                  <a:schemeClr val="tx1"/>
                </a:solidFill>
              </a:rPr>
              <a:t>3. Loop Unrolling</a:t>
            </a:r>
            <a:endParaRPr lang="en-IN" dirty="0">
              <a:solidFill>
                <a:schemeClr val="tx1"/>
              </a:solidFill>
            </a:endParaRPr>
          </a:p>
        </p:txBody>
      </p:sp>
    </p:spTree>
    <p:extLst>
      <p:ext uri="{BB962C8B-B14F-4D97-AF65-F5344CB8AC3E}">
        <p14:creationId xmlns:p14="http://schemas.microsoft.com/office/powerpoint/2010/main" val="51402764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9" y="2132856"/>
            <a:ext cx="7596832" cy="3993307"/>
          </a:xfrm>
        </p:spPr>
        <p:txBody>
          <a:bodyPr/>
          <a:lstStyle/>
          <a:p>
            <a:r>
              <a:rPr lang="en-US" dirty="0"/>
              <a:t>The objective of peephole optimization is as follows</a:t>
            </a:r>
            <a:r>
              <a:rPr lang="en-US" dirty="0" smtClean="0"/>
              <a:t>:</a:t>
            </a:r>
          </a:p>
          <a:p>
            <a:pPr marL="514350" indent="-514350" fontAlgn="base">
              <a:buAutoNum type="arabicPeriod"/>
            </a:pPr>
            <a:r>
              <a:rPr lang="en-US" dirty="0" smtClean="0"/>
              <a:t>To </a:t>
            </a:r>
            <a:r>
              <a:rPr lang="en-US" dirty="0"/>
              <a:t>improve </a:t>
            </a:r>
            <a:r>
              <a:rPr lang="en-US" dirty="0" smtClean="0"/>
              <a:t>performance</a:t>
            </a:r>
          </a:p>
          <a:p>
            <a:pPr marL="514350" indent="-514350" fontAlgn="base">
              <a:buAutoNum type="arabicPeriod"/>
            </a:pPr>
            <a:r>
              <a:rPr lang="en-US" dirty="0" smtClean="0"/>
              <a:t>To </a:t>
            </a:r>
            <a:r>
              <a:rPr lang="en-US" dirty="0"/>
              <a:t>reduce memory </a:t>
            </a:r>
            <a:r>
              <a:rPr lang="en-US" dirty="0" smtClean="0"/>
              <a:t>footprint</a:t>
            </a:r>
          </a:p>
          <a:p>
            <a:pPr marL="514350" indent="-514350" fontAlgn="base">
              <a:buAutoNum type="arabicPeriod"/>
            </a:pPr>
            <a:r>
              <a:rPr lang="en-US" dirty="0" smtClean="0"/>
              <a:t>To </a:t>
            </a:r>
            <a:r>
              <a:rPr lang="en-US" dirty="0"/>
              <a:t>reduce code size</a:t>
            </a:r>
          </a:p>
          <a:p>
            <a:endParaRPr lang="en-IN" dirty="0"/>
          </a:p>
        </p:txBody>
      </p:sp>
      <p:sp>
        <p:nvSpPr>
          <p:cNvPr id="2" name="Title 1"/>
          <p:cNvSpPr>
            <a:spLocks noGrp="1"/>
          </p:cNvSpPr>
          <p:nvPr>
            <p:ph type="title"/>
          </p:nvPr>
        </p:nvSpPr>
        <p:spPr/>
        <p:txBody>
          <a:bodyPr>
            <a:normAutofit fontScale="90000"/>
          </a:bodyPr>
          <a:lstStyle/>
          <a:p>
            <a:r>
              <a:rPr lang="en-IN" b="1" dirty="0">
                <a:solidFill>
                  <a:schemeClr val="tx1"/>
                </a:solidFill>
              </a:rPr>
              <a:t>Peephole </a:t>
            </a:r>
            <a:r>
              <a:rPr lang="en-IN" b="1" dirty="0" smtClean="0">
                <a:solidFill>
                  <a:schemeClr val="tx1"/>
                </a:solidFill>
              </a:rPr>
              <a:t>Optimization</a:t>
            </a:r>
            <a:r>
              <a:rPr lang="en-IN" b="1" dirty="0"/>
              <a:t/>
            </a:r>
            <a:br>
              <a:rPr lang="en-IN" b="1" dirty="0"/>
            </a:br>
            <a:endParaRPr lang="en-IN" dirty="0"/>
          </a:p>
        </p:txBody>
      </p:sp>
    </p:spTree>
    <p:extLst>
      <p:ext uri="{BB962C8B-B14F-4D97-AF65-F5344CB8AC3E}">
        <p14:creationId xmlns:p14="http://schemas.microsoft.com/office/powerpoint/2010/main" val="260248214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3" y="1844824"/>
            <a:ext cx="7740848" cy="4281339"/>
          </a:xfrm>
        </p:spPr>
        <p:txBody>
          <a:bodyPr>
            <a:normAutofit fontScale="92500" lnSpcReduction="10000"/>
          </a:bodyPr>
          <a:lstStyle/>
          <a:p>
            <a:r>
              <a:rPr lang="en-US" dirty="0">
                <a:latin typeface="Times New Roman" pitchFamily="18" charset="0"/>
                <a:cs typeface="Times New Roman" pitchFamily="18" charset="0"/>
              </a:rPr>
              <a:t>In this technique, redundancy is </a:t>
            </a:r>
            <a:r>
              <a:rPr lang="en-US" dirty="0" smtClean="0">
                <a:latin typeface="Times New Roman" pitchFamily="18" charset="0"/>
                <a:cs typeface="Times New Roman" pitchFamily="18" charset="0"/>
              </a:rPr>
              <a:t>eliminated</a:t>
            </a:r>
          </a:p>
          <a:p>
            <a:pPr marL="0" indent="0">
              <a:buNone/>
            </a:pPr>
            <a:r>
              <a:rPr lang="en-US" b="1" dirty="0">
                <a:latin typeface="Times New Roman" pitchFamily="18" charset="0"/>
                <a:cs typeface="Times New Roman" pitchFamily="18" charset="0"/>
              </a:rPr>
              <a:t>Initial code:</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y = x + 5;</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 = y;</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z = i;</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w = z * 3;</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Optimized code:</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y = x + 5;</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w = y * 3; //* there is no i now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We've removed two redundant variables i &amp; z whose value were just being copied from one another.</a:t>
            </a:r>
            <a:endParaRPr lang="en-IN" dirty="0">
              <a:latin typeface="Times New Roman" pitchFamily="18" charset="0"/>
              <a:cs typeface="Times New Roman" pitchFamily="18" charset="0"/>
            </a:endParaRPr>
          </a:p>
        </p:txBody>
      </p:sp>
      <p:sp>
        <p:nvSpPr>
          <p:cNvPr id="2" name="Title 1"/>
          <p:cNvSpPr>
            <a:spLocks noGrp="1"/>
          </p:cNvSpPr>
          <p:nvPr>
            <p:ph type="title"/>
          </p:nvPr>
        </p:nvSpPr>
        <p:spPr>
          <a:xfrm>
            <a:off x="457200" y="274638"/>
            <a:ext cx="8686800" cy="1143000"/>
          </a:xfrm>
        </p:spPr>
        <p:txBody>
          <a:bodyPr>
            <a:normAutofit fontScale="90000"/>
          </a:bodyPr>
          <a:lstStyle/>
          <a:p>
            <a:r>
              <a:rPr lang="en-US" b="1" dirty="0">
                <a:solidFill>
                  <a:schemeClr val="tx1"/>
                </a:solidFill>
              </a:rPr>
              <a:t>A. Redundant load and store </a:t>
            </a:r>
            <a:r>
              <a:rPr lang="en-US" b="1" dirty="0" smtClean="0">
                <a:solidFill>
                  <a:schemeClr val="tx1"/>
                </a:solidFill>
              </a:rPr>
              <a:t>elimination</a:t>
            </a:r>
            <a:r>
              <a:rPr lang="en-US" dirty="0"/>
              <a:t> </a:t>
            </a:r>
            <a:endParaRPr lang="en-IN" dirty="0"/>
          </a:p>
        </p:txBody>
      </p:sp>
    </p:spTree>
    <p:extLst>
      <p:ext uri="{BB962C8B-B14F-4D97-AF65-F5344CB8AC3E}">
        <p14:creationId xmlns:p14="http://schemas.microsoft.com/office/powerpoint/2010/main" val="31503148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7" y="1916832"/>
            <a:ext cx="7884864" cy="4209331"/>
          </a:xfrm>
        </p:spPr>
        <p:txBody>
          <a:bodyPr>
            <a:normAutofit/>
          </a:bodyPr>
          <a:lstStyle/>
          <a:p>
            <a:r>
              <a:rPr lang="en-US" dirty="0"/>
              <a:t>The code that can be simplified by the user itself, is simplified. Here simplification to be done at runtime are replaced with simplified code to avoid additional computation</a:t>
            </a:r>
            <a:r>
              <a:rPr lang="en-US" dirty="0" smtClean="0"/>
              <a:t>.</a:t>
            </a:r>
          </a:p>
          <a:p>
            <a:pPr marL="0" indent="0">
              <a:buNone/>
            </a:pPr>
            <a:r>
              <a:rPr lang="en-US" b="1" dirty="0"/>
              <a:t>Initial code:</a:t>
            </a:r>
            <a:r>
              <a:rPr lang="en-US" dirty="0"/>
              <a:t/>
            </a:r>
            <a:br>
              <a:rPr lang="en-US" dirty="0"/>
            </a:br>
            <a:r>
              <a:rPr lang="en-US" dirty="0"/>
              <a:t>x = 2 * 3;</a:t>
            </a:r>
            <a:br>
              <a:rPr lang="en-US" dirty="0"/>
            </a:br>
            <a:r>
              <a:rPr lang="en-US" dirty="0"/>
              <a:t/>
            </a:r>
            <a:br>
              <a:rPr lang="en-US" dirty="0"/>
            </a:br>
            <a:r>
              <a:rPr lang="en-US" b="1" dirty="0"/>
              <a:t>Optimized code:</a:t>
            </a:r>
            <a:r>
              <a:rPr lang="en-US" dirty="0"/>
              <a:t/>
            </a:r>
            <a:br>
              <a:rPr lang="en-US" dirty="0"/>
            </a:br>
            <a:r>
              <a:rPr lang="en-US" dirty="0"/>
              <a:t>x = 6;</a:t>
            </a:r>
            <a:endParaRPr lang="en-IN" dirty="0"/>
          </a:p>
        </p:txBody>
      </p:sp>
      <p:sp>
        <p:nvSpPr>
          <p:cNvPr id="2" name="Title 1"/>
          <p:cNvSpPr>
            <a:spLocks noGrp="1"/>
          </p:cNvSpPr>
          <p:nvPr>
            <p:ph type="title"/>
          </p:nvPr>
        </p:nvSpPr>
        <p:spPr/>
        <p:txBody>
          <a:bodyPr/>
          <a:lstStyle/>
          <a:p>
            <a:r>
              <a:rPr lang="en-IN" b="1" dirty="0">
                <a:solidFill>
                  <a:schemeClr val="tx1"/>
                </a:solidFill>
              </a:rPr>
              <a:t>B. Constant folding</a:t>
            </a:r>
            <a:endParaRPr lang="en-IN" dirty="0">
              <a:solidFill>
                <a:schemeClr val="tx1"/>
              </a:solidFill>
            </a:endParaRPr>
          </a:p>
        </p:txBody>
      </p:sp>
    </p:spTree>
    <p:extLst>
      <p:ext uri="{BB962C8B-B14F-4D97-AF65-F5344CB8AC3E}">
        <p14:creationId xmlns:p14="http://schemas.microsoft.com/office/powerpoint/2010/main" val="103476639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7" y="1916832"/>
            <a:ext cx="7884864" cy="4209331"/>
          </a:xfrm>
        </p:spPr>
        <p:txBody>
          <a:bodyPr>
            <a:normAutofit fontScale="92500" lnSpcReduction="10000"/>
          </a:bodyPr>
          <a:lstStyle/>
          <a:p>
            <a:r>
              <a:rPr lang="en-US" dirty="0">
                <a:latin typeface="Times New Roman" pitchFamily="18" charset="0"/>
                <a:cs typeface="Times New Roman" pitchFamily="18" charset="0"/>
              </a:rPr>
              <a:t>The operators that consume higher execution time are replaced by the operators consuming less execution </a:t>
            </a:r>
            <a:r>
              <a:rPr lang="en-US" dirty="0" smtClean="0">
                <a:latin typeface="Times New Roman" pitchFamily="18" charset="0"/>
                <a:cs typeface="Times New Roman" pitchFamily="18" charset="0"/>
              </a:rPr>
              <a:t>time</a:t>
            </a:r>
          </a:p>
          <a:p>
            <a:pPr marL="0" indent="0">
              <a:buNone/>
            </a:pPr>
            <a:r>
              <a:rPr lang="es-ES" b="1" dirty="0" err="1">
                <a:latin typeface="Times New Roman" pitchFamily="18" charset="0"/>
                <a:cs typeface="Times New Roman" pitchFamily="18" charset="0"/>
              </a:rPr>
              <a:t>Initial</a:t>
            </a:r>
            <a:r>
              <a:rPr lang="es-ES" b="1" dirty="0">
                <a:latin typeface="Times New Roman" pitchFamily="18" charset="0"/>
                <a:cs typeface="Times New Roman" pitchFamily="18" charset="0"/>
              </a:rPr>
              <a:t> </a:t>
            </a:r>
            <a:r>
              <a:rPr lang="es-ES" b="1" dirty="0" err="1">
                <a:latin typeface="Times New Roman" pitchFamily="18" charset="0"/>
                <a:cs typeface="Times New Roman" pitchFamily="18" charset="0"/>
              </a:rPr>
              <a:t>code</a:t>
            </a:r>
            <a:r>
              <a:rPr lang="es-ES" b="1" dirty="0">
                <a:latin typeface="Times New Roman" pitchFamily="18" charset="0"/>
                <a:cs typeface="Times New Roman" pitchFamily="18" charset="0"/>
              </a:rPr>
              <a:t>:</a:t>
            </a:r>
            <a:r>
              <a:rPr lang="es-ES" dirty="0">
                <a:latin typeface="Times New Roman" pitchFamily="18" charset="0"/>
                <a:cs typeface="Times New Roman" pitchFamily="18" charset="0"/>
              </a:rPr>
              <a:t/>
            </a:r>
            <a:br>
              <a:rPr lang="es-ES" dirty="0">
                <a:latin typeface="Times New Roman" pitchFamily="18" charset="0"/>
                <a:cs typeface="Times New Roman" pitchFamily="18" charset="0"/>
              </a:rPr>
            </a:br>
            <a:r>
              <a:rPr lang="es-ES" dirty="0">
                <a:latin typeface="Times New Roman" pitchFamily="18" charset="0"/>
                <a:cs typeface="Times New Roman" pitchFamily="18" charset="0"/>
              </a:rPr>
              <a:t>y = x * 2;</a:t>
            </a:r>
            <a:br>
              <a:rPr lang="es-ES" dirty="0">
                <a:latin typeface="Times New Roman" pitchFamily="18" charset="0"/>
                <a:cs typeface="Times New Roman" pitchFamily="18" charset="0"/>
              </a:rPr>
            </a:br>
            <a:r>
              <a:rPr lang="es-ES" dirty="0">
                <a:latin typeface="Times New Roman" pitchFamily="18" charset="0"/>
                <a:cs typeface="Times New Roman" pitchFamily="18" charset="0"/>
              </a:rPr>
              <a:t/>
            </a:r>
            <a:br>
              <a:rPr lang="es-ES" dirty="0">
                <a:latin typeface="Times New Roman" pitchFamily="18" charset="0"/>
                <a:cs typeface="Times New Roman" pitchFamily="18" charset="0"/>
              </a:rPr>
            </a:br>
            <a:r>
              <a:rPr lang="es-ES" b="1" dirty="0" err="1">
                <a:latin typeface="Times New Roman" pitchFamily="18" charset="0"/>
                <a:cs typeface="Times New Roman" pitchFamily="18" charset="0"/>
              </a:rPr>
              <a:t>Optimized</a:t>
            </a:r>
            <a:r>
              <a:rPr lang="es-ES" b="1" dirty="0">
                <a:latin typeface="Times New Roman" pitchFamily="18" charset="0"/>
                <a:cs typeface="Times New Roman" pitchFamily="18" charset="0"/>
              </a:rPr>
              <a:t> </a:t>
            </a:r>
            <a:r>
              <a:rPr lang="es-ES" b="1" dirty="0" err="1">
                <a:latin typeface="Times New Roman" pitchFamily="18" charset="0"/>
                <a:cs typeface="Times New Roman" pitchFamily="18" charset="0"/>
              </a:rPr>
              <a:t>code</a:t>
            </a:r>
            <a:r>
              <a:rPr lang="es-ES" b="1" dirty="0">
                <a:latin typeface="Times New Roman" pitchFamily="18" charset="0"/>
                <a:cs typeface="Times New Roman" pitchFamily="18" charset="0"/>
              </a:rPr>
              <a:t>:</a:t>
            </a:r>
            <a:r>
              <a:rPr lang="es-ES" dirty="0">
                <a:latin typeface="Times New Roman" pitchFamily="18" charset="0"/>
                <a:cs typeface="Times New Roman" pitchFamily="18" charset="0"/>
              </a:rPr>
              <a:t/>
            </a:r>
            <a:br>
              <a:rPr lang="es-ES" dirty="0">
                <a:latin typeface="Times New Roman" pitchFamily="18" charset="0"/>
                <a:cs typeface="Times New Roman" pitchFamily="18" charset="0"/>
              </a:rPr>
            </a:br>
            <a:r>
              <a:rPr lang="es-ES" dirty="0">
                <a:latin typeface="Times New Roman" pitchFamily="18" charset="0"/>
                <a:cs typeface="Times New Roman" pitchFamily="18" charset="0"/>
              </a:rPr>
              <a:t>y = x + x; </a:t>
            </a:r>
            <a:r>
              <a:rPr lang="es-ES" dirty="0" err="1">
                <a:latin typeface="Times New Roman" pitchFamily="18" charset="0"/>
                <a:cs typeface="Times New Roman" pitchFamily="18" charset="0"/>
              </a:rPr>
              <a:t>or</a:t>
            </a:r>
            <a:r>
              <a:rPr lang="es-ES" dirty="0">
                <a:latin typeface="Times New Roman" pitchFamily="18" charset="0"/>
                <a:cs typeface="Times New Roman" pitchFamily="18" charset="0"/>
              </a:rPr>
              <a:t> y = x &lt;&lt; 1;</a:t>
            </a:r>
            <a:br>
              <a:rPr lang="es-ES" dirty="0">
                <a:latin typeface="Times New Roman" pitchFamily="18" charset="0"/>
                <a:cs typeface="Times New Roman" pitchFamily="18" charset="0"/>
              </a:rPr>
            </a:br>
            <a:r>
              <a:rPr lang="es-ES" dirty="0">
                <a:latin typeface="Times New Roman" pitchFamily="18" charset="0"/>
                <a:cs typeface="Times New Roman" pitchFamily="18" charset="0"/>
              </a:rPr>
              <a:t/>
            </a:r>
            <a:br>
              <a:rPr lang="es-ES" dirty="0">
                <a:latin typeface="Times New Roman" pitchFamily="18" charset="0"/>
                <a:cs typeface="Times New Roman" pitchFamily="18" charset="0"/>
              </a:rPr>
            </a:br>
            <a:r>
              <a:rPr lang="es-ES" b="1" dirty="0" err="1">
                <a:latin typeface="Times New Roman" pitchFamily="18" charset="0"/>
                <a:cs typeface="Times New Roman" pitchFamily="18" charset="0"/>
              </a:rPr>
              <a:t>Initial</a:t>
            </a:r>
            <a:r>
              <a:rPr lang="es-ES" b="1" dirty="0">
                <a:latin typeface="Times New Roman" pitchFamily="18" charset="0"/>
                <a:cs typeface="Times New Roman" pitchFamily="18" charset="0"/>
              </a:rPr>
              <a:t> </a:t>
            </a:r>
            <a:r>
              <a:rPr lang="es-ES" b="1" dirty="0" err="1">
                <a:latin typeface="Times New Roman" pitchFamily="18" charset="0"/>
                <a:cs typeface="Times New Roman" pitchFamily="18" charset="0"/>
              </a:rPr>
              <a:t>code</a:t>
            </a:r>
            <a:r>
              <a:rPr lang="es-ES" b="1" dirty="0">
                <a:latin typeface="Times New Roman" pitchFamily="18" charset="0"/>
                <a:cs typeface="Times New Roman" pitchFamily="18" charset="0"/>
              </a:rPr>
              <a:t>:</a:t>
            </a:r>
            <a:r>
              <a:rPr lang="es-ES" dirty="0">
                <a:latin typeface="Times New Roman" pitchFamily="18" charset="0"/>
                <a:cs typeface="Times New Roman" pitchFamily="18" charset="0"/>
              </a:rPr>
              <a:t/>
            </a:r>
            <a:br>
              <a:rPr lang="es-ES" dirty="0">
                <a:latin typeface="Times New Roman" pitchFamily="18" charset="0"/>
                <a:cs typeface="Times New Roman" pitchFamily="18" charset="0"/>
              </a:rPr>
            </a:br>
            <a:r>
              <a:rPr lang="es-ES" dirty="0">
                <a:latin typeface="Times New Roman" pitchFamily="18" charset="0"/>
                <a:cs typeface="Times New Roman" pitchFamily="18" charset="0"/>
              </a:rPr>
              <a:t>y = x / 2;</a:t>
            </a:r>
            <a:br>
              <a:rPr lang="es-ES" dirty="0">
                <a:latin typeface="Times New Roman" pitchFamily="18" charset="0"/>
                <a:cs typeface="Times New Roman" pitchFamily="18" charset="0"/>
              </a:rPr>
            </a:br>
            <a:r>
              <a:rPr lang="es-ES" dirty="0">
                <a:latin typeface="Times New Roman" pitchFamily="18" charset="0"/>
                <a:cs typeface="Times New Roman" pitchFamily="18" charset="0"/>
              </a:rPr>
              <a:t/>
            </a:r>
            <a:br>
              <a:rPr lang="es-ES" dirty="0">
                <a:latin typeface="Times New Roman" pitchFamily="18" charset="0"/>
                <a:cs typeface="Times New Roman" pitchFamily="18" charset="0"/>
              </a:rPr>
            </a:br>
            <a:r>
              <a:rPr lang="es-ES" b="1" dirty="0" err="1">
                <a:latin typeface="Times New Roman" pitchFamily="18" charset="0"/>
                <a:cs typeface="Times New Roman" pitchFamily="18" charset="0"/>
              </a:rPr>
              <a:t>Optimized</a:t>
            </a:r>
            <a:r>
              <a:rPr lang="es-ES" b="1" dirty="0">
                <a:latin typeface="Times New Roman" pitchFamily="18" charset="0"/>
                <a:cs typeface="Times New Roman" pitchFamily="18" charset="0"/>
              </a:rPr>
              <a:t> </a:t>
            </a:r>
            <a:r>
              <a:rPr lang="es-ES" b="1" dirty="0" err="1">
                <a:latin typeface="Times New Roman" pitchFamily="18" charset="0"/>
                <a:cs typeface="Times New Roman" pitchFamily="18" charset="0"/>
              </a:rPr>
              <a:t>code</a:t>
            </a:r>
            <a:r>
              <a:rPr lang="es-ES" b="1" dirty="0">
                <a:latin typeface="Times New Roman" pitchFamily="18" charset="0"/>
                <a:cs typeface="Times New Roman" pitchFamily="18" charset="0"/>
              </a:rPr>
              <a:t>:</a:t>
            </a:r>
            <a:r>
              <a:rPr lang="es-ES" dirty="0">
                <a:latin typeface="Times New Roman" pitchFamily="18" charset="0"/>
                <a:cs typeface="Times New Roman" pitchFamily="18" charset="0"/>
              </a:rPr>
              <a:t/>
            </a:r>
            <a:br>
              <a:rPr lang="es-ES" dirty="0">
                <a:latin typeface="Times New Roman" pitchFamily="18" charset="0"/>
                <a:cs typeface="Times New Roman" pitchFamily="18" charset="0"/>
              </a:rPr>
            </a:br>
            <a:r>
              <a:rPr lang="es-ES" dirty="0">
                <a:latin typeface="Times New Roman" pitchFamily="18" charset="0"/>
                <a:cs typeface="Times New Roman" pitchFamily="18" charset="0"/>
              </a:rPr>
              <a:t>y = x &gt;&gt; 1;</a:t>
            </a:r>
            <a:endParaRPr lang="en-IN"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IN" b="1" dirty="0">
                <a:solidFill>
                  <a:schemeClr val="tx1"/>
                </a:solidFill>
              </a:rPr>
              <a:t>C. Strength Reduction</a:t>
            </a:r>
            <a:endParaRPr lang="en-IN" dirty="0">
              <a:solidFill>
                <a:schemeClr val="tx1"/>
              </a:solidFill>
            </a:endParaRPr>
          </a:p>
        </p:txBody>
      </p:sp>
    </p:spTree>
    <p:extLst>
      <p:ext uri="{BB962C8B-B14F-4D97-AF65-F5344CB8AC3E}">
        <p14:creationId xmlns:p14="http://schemas.microsoft.com/office/powerpoint/2010/main" val="365417058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1" y="1988840"/>
            <a:ext cx="7668840" cy="4137323"/>
          </a:xfrm>
        </p:spPr>
        <p:txBody>
          <a:bodyPr/>
          <a:lstStyle/>
          <a:p>
            <a:r>
              <a:rPr lang="en-IN" dirty="0"/>
              <a:t>Useless operations are </a:t>
            </a:r>
            <a:r>
              <a:rPr lang="en-IN" dirty="0" smtClean="0"/>
              <a:t>deleted</a:t>
            </a:r>
          </a:p>
          <a:p>
            <a:pPr marL="0" indent="0">
              <a:buNone/>
            </a:pPr>
            <a:r>
              <a:rPr lang="pt-BR" dirty="0"/>
              <a:t>a := a + 0;</a:t>
            </a:r>
            <a:br>
              <a:rPr lang="pt-BR" dirty="0"/>
            </a:br>
            <a:r>
              <a:rPr lang="pt-BR" dirty="0"/>
              <a:t>a := a * 1;</a:t>
            </a:r>
            <a:br>
              <a:rPr lang="pt-BR" dirty="0"/>
            </a:br>
            <a:r>
              <a:rPr lang="pt-BR" dirty="0"/>
              <a:t>a := a/1;</a:t>
            </a:r>
            <a:br>
              <a:rPr lang="pt-BR" dirty="0"/>
            </a:br>
            <a:r>
              <a:rPr lang="pt-BR" dirty="0"/>
              <a:t>a := a - 0;</a:t>
            </a:r>
            <a:endParaRPr lang="en-IN" dirty="0"/>
          </a:p>
        </p:txBody>
      </p:sp>
      <p:sp>
        <p:nvSpPr>
          <p:cNvPr id="2" name="Title 1"/>
          <p:cNvSpPr>
            <a:spLocks noGrp="1"/>
          </p:cNvSpPr>
          <p:nvPr>
            <p:ph type="title"/>
          </p:nvPr>
        </p:nvSpPr>
        <p:spPr/>
        <p:txBody>
          <a:bodyPr>
            <a:normAutofit/>
          </a:bodyPr>
          <a:lstStyle/>
          <a:p>
            <a:r>
              <a:rPr lang="en-IN" b="1" dirty="0" smtClean="0">
                <a:solidFill>
                  <a:schemeClr val="tx1"/>
                </a:solidFill>
              </a:rPr>
              <a:t>D. Simplify </a:t>
            </a:r>
            <a:r>
              <a:rPr lang="en-IN" b="1" dirty="0">
                <a:solidFill>
                  <a:schemeClr val="tx1"/>
                </a:solidFill>
              </a:rPr>
              <a:t>Algebraic Expressions</a:t>
            </a:r>
            <a:endParaRPr lang="en-IN" dirty="0">
              <a:solidFill>
                <a:schemeClr val="tx1"/>
              </a:solidFill>
            </a:endParaRPr>
          </a:p>
        </p:txBody>
      </p:sp>
    </p:spTree>
    <p:extLst>
      <p:ext uri="{BB962C8B-B14F-4D97-AF65-F5344CB8AC3E}">
        <p14:creationId xmlns:p14="http://schemas.microsoft.com/office/powerpoint/2010/main" val="277968183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5" y="1844824"/>
            <a:ext cx="7812856" cy="4281339"/>
          </a:xfrm>
        </p:spPr>
        <p:txBody>
          <a:bodyPr/>
          <a:lstStyle/>
          <a:p>
            <a:pPr algn="just"/>
            <a:r>
              <a:rPr lang="en-US" dirty="0">
                <a:latin typeface="Times New Roman" pitchFamily="18" charset="0"/>
                <a:cs typeface="Times New Roman" pitchFamily="18" charset="0"/>
              </a:rPr>
              <a:t>Dead code refers to portions of the program that are never executed or do not affect the program’s observable behavior. Eliminating dead code helps improve the efficiency and performance of the compiled program by reducing unnecessary computations and memory usage</a:t>
            </a:r>
            <a:r>
              <a:rPr lang="en-US" dirty="0" smtClean="0"/>
              <a:t>.</a:t>
            </a:r>
          </a:p>
          <a:p>
            <a:pPr marL="0" indent="0">
              <a:buNone/>
            </a:pPr>
            <a:endParaRPr lang="en-IN" dirty="0"/>
          </a:p>
        </p:txBody>
      </p:sp>
      <p:sp>
        <p:nvSpPr>
          <p:cNvPr id="2" name="Title 1"/>
          <p:cNvSpPr>
            <a:spLocks noGrp="1"/>
          </p:cNvSpPr>
          <p:nvPr>
            <p:ph type="title"/>
          </p:nvPr>
        </p:nvSpPr>
        <p:spPr/>
        <p:txBody>
          <a:bodyPr/>
          <a:lstStyle/>
          <a:p>
            <a:r>
              <a:rPr lang="en-IN" b="1" dirty="0">
                <a:solidFill>
                  <a:schemeClr val="tx1"/>
                </a:solidFill>
              </a:rPr>
              <a:t>F. </a:t>
            </a:r>
            <a:r>
              <a:rPr lang="en-IN" b="1" dirty="0" err="1">
                <a:solidFill>
                  <a:schemeClr val="tx1"/>
                </a:solidFill>
              </a:rPr>
              <a:t>Deadcode</a:t>
            </a:r>
            <a:r>
              <a:rPr lang="en-IN" b="1" dirty="0">
                <a:solidFill>
                  <a:schemeClr val="tx1"/>
                </a:solidFill>
              </a:rPr>
              <a:t> Elimination</a:t>
            </a:r>
            <a:endParaRPr lang="en-IN" dirty="0">
              <a:solidFill>
                <a:schemeClr val="tx1"/>
              </a:solidFill>
            </a:endParaRPr>
          </a:p>
        </p:txBody>
      </p:sp>
    </p:spTree>
    <p:extLst>
      <p:ext uri="{BB962C8B-B14F-4D97-AF65-F5344CB8AC3E}">
        <p14:creationId xmlns:p14="http://schemas.microsoft.com/office/powerpoint/2010/main" val="268755150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28800"/>
            <a:ext cx="8136903" cy="4824536"/>
          </a:xfrm>
        </p:spPr>
        <p:txBody>
          <a:bodyPr>
            <a:normAutofit fontScale="62500" lnSpcReduction="20000"/>
          </a:bodyPr>
          <a:lstStyle/>
          <a:p>
            <a:pPr marL="0" indent="0">
              <a:buNone/>
            </a:pPr>
            <a:r>
              <a:rPr lang="en-IN" b="1" dirty="0"/>
              <a:t>Initial Code:-</a:t>
            </a:r>
            <a:r>
              <a:rPr lang="en-IN" dirty="0"/>
              <a:t/>
            </a:r>
            <a:br>
              <a:rPr lang="en-IN" dirty="0"/>
            </a:br>
            <a:r>
              <a:rPr lang="en-IN" dirty="0" err="1"/>
              <a:t>int</a:t>
            </a:r>
            <a:r>
              <a:rPr lang="en-IN" dirty="0"/>
              <a:t> Dead(void)</a:t>
            </a:r>
            <a:br>
              <a:rPr lang="en-IN" dirty="0"/>
            </a:br>
            <a:r>
              <a:rPr lang="en-IN" dirty="0"/>
              <a:t>{</a:t>
            </a:r>
            <a:br>
              <a:rPr lang="en-IN" dirty="0"/>
            </a:br>
            <a:r>
              <a:rPr lang="en-IN" dirty="0" err="1"/>
              <a:t>int</a:t>
            </a:r>
            <a:r>
              <a:rPr lang="en-IN" dirty="0"/>
              <a:t> a=10;</a:t>
            </a:r>
            <a:br>
              <a:rPr lang="en-IN" dirty="0"/>
            </a:br>
            <a:r>
              <a:rPr lang="en-IN" dirty="0" err="1"/>
              <a:t>int</a:t>
            </a:r>
            <a:r>
              <a:rPr lang="en-IN" dirty="0"/>
              <a:t> z=50;</a:t>
            </a:r>
            <a:br>
              <a:rPr lang="en-IN" dirty="0"/>
            </a:br>
            <a:r>
              <a:rPr lang="en-IN" dirty="0" err="1"/>
              <a:t>int</a:t>
            </a:r>
            <a:r>
              <a:rPr lang="en-IN" dirty="0"/>
              <a:t> c;</a:t>
            </a:r>
            <a:br>
              <a:rPr lang="en-IN" dirty="0"/>
            </a:br>
            <a:r>
              <a:rPr lang="en-IN" dirty="0"/>
              <a:t>c=z*5;</a:t>
            </a:r>
            <a:br>
              <a:rPr lang="en-IN" dirty="0"/>
            </a:br>
            <a:r>
              <a:rPr lang="en-IN" dirty="0" err="1"/>
              <a:t>printf</a:t>
            </a:r>
            <a:r>
              <a:rPr lang="en-IN" dirty="0"/>
              <a:t>(c);</a:t>
            </a:r>
            <a:br>
              <a:rPr lang="en-IN" dirty="0"/>
            </a:br>
            <a:r>
              <a:rPr lang="en-IN" dirty="0"/>
              <a:t>a=20; </a:t>
            </a:r>
            <a:br>
              <a:rPr lang="en-IN" dirty="0"/>
            </a:br>
            <a:r>
              <a:rPr lang="en-IN" dirty="0"/>
              <a:t>a=a*10; //No need of These Two Lines </a:t>
            </a:r>
            <a:br>
              <a:rPr lang="en-IN" dirty="0"/>
            </a:br>
            <a:r>
              <a:rPr lang="en-IN" dirty="0"/>
              <a:t>return 0;</a:t>
            </a:r>
            <a:br>
              <a:rPr lang="en-IN" dirty="0"/>
            </a:br>
            <a:r>
              <a:rPr lang="en-IN" dirty="0" smtClean="0"/>
              <a:t>}</a:t>
            </a:r>
          </a:p>
          <a:p>
            <a:pPr marL="0" indent="0">
              <a:buNone/>
            </a:pPr>
            <a:r>
              <a:rPr lang="en-IN" dirty="0"/>
              <a:t/>
            </a:r>
            <a:br>
              <a:rPr lang="en-IN" dirty="0"/>
            </a:br>
            <a:r>
              <a:rPr lang="en-IN" b="1" dirty="0"/>
              <a:t>Optimized Code:-</a:t>
            </a:r>
            <a:r>
              <a:rPr lang="en-IN" dirty="0"/>
              <a:t/>
            </a:r>
            <a:br>
              <a:rPr lang="en-IN" dirty="0"/>
            </a:br>
            <a:r>
              <a:rPr lang="en-IN" dirty="0" err="1"/>
              <a:t>int</a:t>
            </a:r>
            <a:r>
              <a:rPr lang="en-IN" dirty="0"/>
              <a:t> Dead(void)</a:t>
            </a:r>
            <a:br>
              <a:rPr lang="en-IN" dirty="0"/>
            </a:br>
            <a:r>
              <a:rPr lang="en-IN" dirty="0"/>
              <a:t>{</a:t>
            </a:r>
            <a:br>
              <a:rPr lang="en-IN" dirty="0"/>
            </a:br>
            <a:r>
              <a:rPr lang="en-IN" dirty="0" err="1"/>
              <a:t>int</a:t>
            </a:r>
            <a:r>
              <a:rPr lang="en-IN" dirty="0"/>
              <a:t> a=10;</a:t>
            </a:r>
            <a:br>
              <a:rPr lang="en-IN" dirty="0"/>
            </a:br>
            <a:r>
              <a:rPr lang="en-IN" dirty="0" err="1"/>
              <a:t>int</a:t>
            </a:r>
            <a:r>
              <a:rPr lang="en-IN" dirty="0"/>
              <a:t> z=50;</a:t>
            </a:r>
            <a:br>
              <a:rPr lang="en-IN" dirty="0"/>
            </a:br>
            <a:r>
              <a:rPr lang="en-IN" dirty="0" err="1"/>
              <a:t>int</a:t>
            </a:r>
            <a:r>
              <a:rPr lang="en-IN" dirty="0"/>
              <a:t> c;</a:t>
            </a:r>
            <a:br>
              <a:rPr lang="en-IN" dirty="0"/>
            </a:br>
            <a:r>
              <a:rPr lang="en-IN" dirty="0"/>
              <a:t>c=z*5;</a:t>
            </a:r>
            <a:br>
              <a:rPr lang="en-IN" dirty="0"/>
            </a:br>
            <a:r>
              <a:rPr lang="en-IN" dirty="0" err="1"/>
              <a:t>printf</a:t>
            </a:r>
            <a:r>
              <a:rPr lang="en-IN" dirty="0"/>
              <a:t>(c);</a:t>
            </a:r>
            <a:br>
              <a:rPr lang="en-IN" dirty="0"/>
            </a:br>
            <a:r>
              <a:rPr lang="en-IN" dirty="0"/>
              <a:t>return 0;</a:t>
            </a:r>
            <a:br>
              <a:rPr lang="en-IN" dirty="0"/>
            </a:br>
            <a:r>
              <a:rPr lang="en-IN" dirty="0"/>
              <a:t>}</a:t>
            </a:r>
          </a:p>
        </p:txBody>
      </p:sp>
      <p:sp>
        <p:nvSpPr>
          <p:cNvPr id="2" name="Title 1"/>
          <p:cNvSpPr>
            <a:spLocks noGrp="1"/>
          </p:cNvSpPr>
          <p:nvPr>
            <p:ph type="title"/>
          </p:nvPr>
        </p:nvSpPr>
        <p:spPr/>
        <p:txBody>
          <a:bodyPr/>
          <a:lstStyle/>
          <a:p>
            <a:endParaRPr lang="en-IN"/>
          </a:p>
        </p:txBody>
      </p:sp>
    </p:spTree>
    <p:extLst>
      <p:ext uri="{BB962C8B-B14F-4D97-AF65-F5344CB8AC3E}">
        <p14:creationId xmlns:p14="http://schemas.microsoft.com/office/powerpoint/2010/main" val="302281255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2060848"/>
            <a:ext cx="8064895" cy="4248472"/>
          </a:xfrm>
        </p:spPr>
        <p:txBody>
          <a:bodyPr/>
          <a:lstStyle/>
          <a:p>
            <a:pPr marL="0" indent="0">
              <a:buNone/>
            </a:pPr>
            <a:r>
              <a:rPr lang="en-US" dirty="0" smtClean="0"/>
              <a:t>Consider</a:t>
            </a:r>
          </a:p>
          <a:p>
            <a:pPr marL="0" indent="0">
              <a:buNone/>
            </a:pPr>
            <a:r>
              <a:rPr lang="en-US" dirty="0"/>
              <a:t>	</a:t>
            </a:r>
            <a:r>
              <a:rPr lang="en-US" dirty="0" smtClean="0"/>
              <a:t>X= (</a:t>
            </a:r>
            <a:r>
              <a:rPr lang="en-US" dirty="0" err="1" smtClean="0"/>
              <a:t>a+b</a:t>
            </a:r>
            <a:r>
              <a:rPr lang="en-US" dirty="0" smtClean="0"/>
              <a:t>)+c+(</a:t>
            </a:r>
            <a:r>
              <a:rPr lang="en-US" dirty="0" err="1" smtClean="0"/>
              <a:t>a+b</a:t>
            </a:r>
            <a:r>
              <a:rPr lang="en-US" dirty="0" smtClean="0"/>
              <a:t>)</a:t>
            </a:r>
          </a:p>
          <a:p>
            <a:r>
              <a:rPr lang="en-US" dirty="0" smtClean="0"/>
              <a:t>Three Address code</a:t>
            </a:r>
          </a:p>
          <a:p>
            <a:pPr marL="0" indent="0">
              <a:buNone/>
            </a:pPr>
            <a:r>
              <a:rPr lang="en-US" dirty="0"/>
              <a:t>t</a:t>
            </a:r>
            <a:r>
              <a:rPr lang="en-US" dirty="0" smtClean="0"/>
              <a:t>0=</a:t>
            </a:r>
            <a:r>
              <a:rPr lang="en-US" dirty="0" err="1" smtClean="0"/>
              <a:t>a+b</a:t>
            </a:r>
            <a:endParaRPr lang="en-US" dirty="0" smtClean="0"/>
          </a:p>
          <a:p>
            <a:pPr marL="0" indent="0">
              <a:buNone/>
            </a:pPr>
            <a:r>
              <a:rPr lang="en-US" dirty="0"/>
              <a:t>t</a:t>
            </a:r>
            <a:r>
              <a:rPr lang="en-US" dirty="0" smtClean="0"/>
              <a:t>1=t0+c</a:t>
            </a:r>
          </a:p>
          <a:p>
            <a:pPr marL="0" indent="0">
              <a:buNone/>
            </a:pPr>
            <a:r>
              <a:rPr lang="en-US" dirty="0" smtClean="0"/>
              <a:t>t2=t0+t1</a:t>
            </a:r>
          </a:p>
          <a:p>
            <a:pPr marL="0" indent="0">
              <a:buNone/>
            </a:pPr>
            <a:r>
              <a:rPr lang="en-US" dirty="0" smtClean="0"/>
              <a:t>X=t2</a:t>
            </a:r>
          </a:p>
          <a:p>
            <a:pPr marL="0" indent="0">
              <a:buNone/>
            </a:pPr>
            <a:endParaRPr lang="en-IN" dirty="0"/>
          </a:p>
        </p:txBody>
      </p:sp>
      <p:sp>
        <p:nvSpPr>
          <p:cNvPr id="3" name="Title 2"/>
          <p:cNvSpPr>
            <a:spLocks noGrp="1"/>
          </p:cNvSpPr>
          <p:nvPr>
            <p:ph type="title"/>
          </p:nvPr>
        </p:nvSpPr>
        <p:spPr/>
        <p:txBody>
          <a:bodyPr/>
          <a:lstStyle/>
          <a:p>
            <a:r>
              <a:rPr lang="en-US" b="1" dirty="0" smtClean="0">
                <a:solidFill>
                  <a:schemeClr val="tx1"/>
                </a:solidFill>
              </a:rPr>
              <a:t>Directed a Cyclic Graph</a:t>
            </a:r>
            <a:endParaRPr lang="en-IN" b="1" dirty="0">
              <a:solidFill>
                <a:schemeClr val="tx1"/>
              </a:solidFill>
            </a:endParaRPr>
          </a:p>
        </p:txBody>
      </p:sp>
    </p:spTree>
    <p:extLst>
      <p:ext uri="{BB962C8B-B14F-4D97-AF65-F5344CB8AC3E}">
        <p14:creationId xmlns:p14="http://schemas.microsoft.com/office/powerpoint/2010/main" val="168049396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tx1"/>
                </a:solidFill>
              </a:rPr>
              <a:t>DAG</a:t>
            </a:r>
            <a:endParaRPr lang="en-IN" b="1" dirty="0">
              <a:solidFill>
                <a:schemeClr val="tx1"/>
              </a:solidFill>
            </a:endParaRPr>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648" y="2674938"/>
            <a:ext cx="5904656"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761706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852936"/>
            <a:ext cx="7408333" cy="3273227"/>
          </a:xfrm>
        </p:spPr>
        <p:txBody>
          <a:bodyPr>
            <a:normAutofit/>
          </a:bodyPr>
          <a:lstStyle/>
          <a:p>
            <a:pPr marL="0" indent="0" algn="ctr">
              <a:buNone/>
            </a:pPr>
            <a:r>
              <a:rPr lang="en-US" sz="6600" b="1" dirty="0" smtClean="0">
                <a:solidFill>
                  <a:schemeClr val="tx1">
                    <a:lumMod val="95000"/>
                    <a:lumOff val="5000"/>
                  </a:schemeClr>
                </a:solidFill>
              </a:rPr>
              <a:t>Thank You</a:t>
            </a:r>
            <a:endParaRPr lang="en-IN" sz="6600" b="1" dirty="0">
              <a:solidFill>
                <a:schemeClr val="tx1">
                  <a:lumMod val="95000"/>
                  <a:lumOff val="5000"/>
                </a:schemeClr>
              </a:solidFill>
            </a:endParaRP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40125538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456</TotalTime>
  <Words>1140</Words>
  <Application>Microsoft Office PowerPoint</Application>
  <PresentationFormat>On-screen Show (4:3)</PresentationFormat>
  <Paragraphs>307</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Waveform</vt:lpstr>
      <vt:lpstr>One Day Seminar on   Compiler Design</vt:lpstr>
      <vt:lpstr>Syllabus</vt:lpstr>
      <vt:lpstr>Important Questions</vt:lpstr>
      <vt:lpstr>PowerPoint Presentation</vt:lpstr>
      <vt:lpstr>COMPILER</vt:lpstr>
      <vt:lpstr>Structure of Compiler</vt:lpstr>
      <vt:lpstr>Cousins of compiler</vt:lpstr>
      <vt:lpstr>Phases of compiler</vt:lpstr>
      <vt:lpstr>Error Handling</vt:lpstr>
      <vt:lpstr>Role of Lexical Analyser </vt:lpstr>
      <vt:lpstr>Error handling</vt:lpstr>
      <vt:lpstr>Regular Expression to DFA</vt:lpstr>
      <vt:lpstr>Unit II</vt:lpstr>
      <vt:lpstr>Left recursive and Left Factoring</vt:lpstr>
      <vt:lpstr>Parser</vt:lpstr>
      <vt:lpstr>LL(1)</vt:lpstr>
      <vt:lpstr>SLR Parser</vt:lpstr>
      <vt:lpstr>Unit III</vt:lpstr>
      <vt:lpstr>Syntax directed Definitions-Construction of Syntax Tree</vt:lpstr>
      <vt:lpstr>PowerPoint Presentation</vt:lpstr>
      <vt:lpstr>Syntax directed Definitions –  Data type </vt:lpstr>
      <vt:lpstr>PowerPoint Presentation</vt:lpstr>
      <vt:lpstr>Three address Code Representation </vt:lpstr>
      <vt:lpstr>PowerPoint Presentation</vt:lpstr>
      <vt:lpstr>Representation 1</vt:lpstr>
      <vt:lpstr>Representation 2</vt:lpstr>
      <vt:lpstr>Representation 3</vt:lpstr>
      <vt:lpstr>Unit IV</vt:lpstr>
      <vt:lpstr>Storage Allocation</vt:lpstr>
      <vt:lpstr>Basic Block</vt:lpstr>
      <vt:lpstr>PowerPoint Presentation</vt:lpstr>
      <vt:lpstr>Flow Graph</vt:lpstr>
      <vt:lpstr>Design of Simple code Generation</vt:lpstr>
      <vt:lpstr>Unit V</vt:lpstr>
      <vt:lpstr>PowerPoint Presentation</vt:lpstr>
      <vt:lpstr>Code Optimization  </vt:lpstr>
      <vt:lpstr>When to Optimize?  </vt:lpstr>
      <vt:lpstr>Why Optimize?  </vt:lpstr>
      <vt:lpstr>Types of Code Optimization</vt:lpstr>
      <vt:lpstr> 1. Compile Time Evaluation </vt:lpstr>
      <vt:lpstr>2. Variable Propagation </vt:lpstr>
      <vt:lpstr>3. Constant Propagation </vt:lpstr>
      <vt:lpstr>4. Constant Folding </vt:lpstr>
      <vt:lpstr>5. Copy Propagation </vt:lpstr>
      <vt:lpstr>6. Common Sub Expression Elimination </vt:lpstr>
      <vt:lpstr>7. Dead Code Elimination </vt:lpstr>
      <vt:lpstr>8. Unreachable Code Elimination </vt:lpstr>
      <vt:lpstr>9. Induction Variable and Strength Reduction </vt:lpstr>
      <vt:lpstr> </vt:lpstr>
      <vt:lpstr>1. Code Motion or Frequency Reduction</vt:lpstr>
      <vt:lpstr>2. Loop Jamming</vt:lpstr>
      <vt:lpstr>3. Loop Unrolling</vt:lpstr>
      <vt:lpstr>Peephole Optimization </vt:lpstr>
      <vt:lpstr>A. Redundant load and store elimination </vt:lpstr>
      <vt:lpstr>B. Constant folding</vt:lpstr>
      <vt:lpstr>C. Strength Reduction</vt:lpstr>
      <vt:lpstr>D. Simplify Algebraic Expressions</vt:lpstr>
      <vt:lpstr>F. Deadcode Elimination</vt:lpstr>
      <vt:lpstr>PowerPoint Presentation</vt:lpstr>
      <vt:lpstr>Directed a Cyclic Graph</vt:lpstr>
      <vt:lpstr>DAG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CS3501- Compiler Design</dc:title>
  <dc:creator>sivalingam</dc:creator>
  <cp:lastModifiedBy>sivalingam</cp:lastModifiedBy>
  <cp:revision>25</cp:revision>
  <dcterms:created xsi:type="dcterms:W3CDTF">2023-09-26T06:32:07Z</dcterms:created>
  <dcterms:modified xsi:type="dcterms:W3CDTF">2023-09-27T07:01:41Z</dcterms:modified>
</cp:coreProperties>
</file>